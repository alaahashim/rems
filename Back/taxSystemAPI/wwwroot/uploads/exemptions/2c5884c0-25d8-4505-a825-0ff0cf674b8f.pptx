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85267" autoAdjust="0"/>
  </p:normalViewPr>
  <p:slideViewPr>
    <p:cSldViewPr snapToGrid="0">
      <p:cViewPr varScale="1">
        <p:scale>
          <a:sx n="62" d="100"/>
          <a:sy n="62" d="100"/>
        </p:scale>
        <p:origin x="10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13D50-0140-444B-96F8-163EB4E19EF3}" type="doc">
      <dgm:prSet loTypeId="urn:microsoft.com/office/officeart/2005/8/layout/h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pPr rtl="1"/>
          <a:endParaRPr lang="ar-EG"/>
        </a:p>
      </dgm:t>
    </dgm:pt>
    <dgm:pt modelId="{2C282FF5-4D5E-4AEE-86C7-86C365E20D49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9B24BAEC-C6CA-4A79-ADF1-257BA4D0C6A8}" type="parTrans" cxnId="{C555EE9E-30FD-4465-904F-46C2908C8145}">
      <dgm:prSet/>
      <dgm:spPr/>
      <dgm:t>
        <a:bodyPr/>
        <a:lstStyle/>
        <a:p>
          <a:pPr rtl="1"/>
          <a:endParaRPr lang="ar-EG"/>
        </a:p>
      </dgm:t>
    </dgm:pt>
    <dgm:pt modelId="{600CC299-09BC-4830-9BC4-C9F8A9A573D1}" type="sibTrans" cxnId="{C555EE9E-30FD-4465-904F-46C2908C8145}">
      <dgm:prSet/>
      <dgm:spPr/>
      <dgm:t>
        <a:bodyPr/>
        <a:lstStyle/>
        <a:p>
          <a:pPr rtl="1"/>
          <a:endParaRPr lang="ar-EG"/>
        </a:p>
      </dgm:t>
    </dgm:pt>
    <dgm:pt modelId="{2F830CF9-001C-4444-9F7E-15915536297F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50BC73BC-563F-4FD4-B208-427CBC83A5ED}" type="parTrans" cxnId="{2BF19F70-1BE2-44E6-8E1C-EB778A3B67B3}">
      <dgm:prSet/>
      <dgm:spPr/>
      <dgm:t>
        <a:bodyPr/>
        <a:lstStyle/>
        <a:p>
          <a:pPr rtl="1"/>
          <a:endParaRPr lang="ar-EG"/>
        </a:p>
      </dgm:t>
    </dgm:pt>
    <dgm:pt modelId="{18BF1B18-12D2-4BEA-95C9-055C840F9613}" type="sibTrans" cxnId="{2BF19F70-1BE2-44E6-8E1C-EB778A3B67B3}">
      <dgm:prSet/>
      <dgm:spPr/>
      <dgm:t>
        <a:bodyPr/>
        <a:lstStyle/>
        <a:p>
          <a:pPr rtl="1"/>
          <a:endParaRPr lang="ar-EG"/>
        </a:p>
      </dgm:t>
    </dgm:pt>
    <dgm:pt modelId="{916ED8FC-795C-4B21-904B-C2ADE4E36A27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997E8133-451E-43E5-B0A4-BEAAA57DA3CA}" type="parTrans" cxnId="{A72B5A00-34F8-466F-A560-1164CB4E52B7}">
      <dgm:prSet/>
      <dgm:spPr/>
      <dgm:t>
        <a:bodyPr/>
        <a:lstStyle/>
        <a:p>
          <a:pPr rtl="1"/>
          <a:endParaRPr lang="ar-EG"/>
        </a:p>
      </dgm:t>
    </dgm:pt>
    <dgm:pt modelId="{492ACADF-7B17-4ED8-A99E-A40093FE8656}" type="sibTrans" cxnId="{A72B5A00-34F8-466F-A560-1164CB4E52B7}">
      <dgm:prSet/>
      <dgm:spPr/>
      <dgm:t>
        <a:bodyPr/>
        <a:lstStyle/>
        <a:p>
          <a:pPr rtl="1"/>
          <a:endParaRPr lang="ar-EG"/>
        </a:p>
      </dgm:t>
    </dgm:pt>
    <dgm:pt modelId="{E98817DC-1B09-4C84-AB25-73C30C062DC3}">
      <dgm:prSet/>
      <dgm:spPr/>
      <dgm:t>
        <a:bodyPr/>
        <a:lstStyle/>
        <a:p>
          <a:pPr rtl="1"/>
          <a:endParaRPr lang="ar-EG" dirty="0"/>
        </a:p>
      </dgm:t>
    </dgm:pt>
    <dgm:pt modelId="{C13BA634-961E-4EE7-A302-CB2320944CB2}" type="parTrans" cxnId="{D974BC22-09E2-44F0-9366-4D21EA5D1966}">
      <dgm:prSet/>
      <dgm:spPr/>
      <dgm:t>
        <a:bodyPr/>
        <a:lstStyle/>
        <a:p>
          <a:pPr rtl="1"/>
          <a:endParaRPr lang="ar-EG"/>
        </a:p>
      </dgm:t>
    </dgm:pt>
    <dgm:pt modelId="{A4F699F5-A29A-41D0-AAA4-83C0AA4E44E2}" type="sibTrans" cxnId="{D974BC22-09E2-44F0-9366-4D21EA5D1966}">
      <dgm:prSet/>
      <dgm:spPr/>
      <dgm:t>
        <a:bodyPr/>
        <a:lstStyle/>
        <a:p>
          <a:pPr rtl="1"/>
          <a:endParaRPr lang="ar-EG"/>
        </a:p>
      </dgm:t>
    </dgm:pt>
    <dgm:pt modelId="{AF11722B-0C55-4105-B21F-F45F71524CC2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dirty="0">
              <a:solidFill>
                <a:srgbClr val="002060"/>
              </a:solidFill>
            </a:rPr>
            <a:t>غياب الرقمنة يقلل من كفاءة المتابعة والرقابة </a:t>
          </a:r>
        </a:p>
      </dgm:t>
    </dgm:pt>
    <dgm:pt modelId="{52C879B5-6936-4812-B98B-C9BE61C183E4}" type="parTrans" cxnId="{EBABE836-78AF-4FD5-A01F-6309A364379B}">
      <dgm:prSet/>
      <dgm:spPr/>
      <dgm:t>
        <a:bodyPr/>
        <a:lstStyle/>
        <a:p>
          <a:pPr rtl="1"/>
          <a:endParaRPr lang="ar-EG"/>
        </a:p>
      </dgm:t>
    </dgm:pt>
    <dgm:pt modelId="{2112AE52-3540-43AE-B2D3-430ED3604B91}" type="sibTrans" cxnId="{EBABE836-78AF-4FD5-A01F-6309A364379B}">
      <dgm:prSet/>
      <dgm:spPr/>
      <dgm:t>
        <a:bodyPr/>
        <a:lstStyle/>
        <a:p>
          <a:pPr rtl="1"/>
          <a:endParaRPr lang="ar-EG"/>
        </a:p>
      </dgm:t>
    </dgm:pt>
    <dgm:pt modelId="{B1AEF0CA-DA61-4301-AB6E-6AB3D14C2D9F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3D1E535A-5EF4-494C-8CF7-2BEB2590C2EB}" type="parTrans" cxnId="{CBD40606-7FAE-48C5-88C8-F75321C15252}">
      <dgm:prSet/>
      <dgm:spPr/>
      <dgm:t>
        <a:bodyPr/>
        <a:lstStyle/>
        <a:p>
          <a:pPr rtl="1"/>
          <a:endParaRPr lang="ar-EG"/>
        </a:p>
      </dgm:t>
    </dgm:pt>
    <dgm:pt modelId="{A1E3751C-4CC0-4AA9-83F5-0F888B86BD03}" type="sibTrans" cxnId="{CBD40606-7FAE-48C5-88C8-F75321C15252}">
      <dgm:prSet/>
      <dgm:spPr/>
      <dgm:t>
        <a:bodyPr/>
        <a:lstStyle/>
        <a:p>
          <a:pPr rtl="1"/>
          <a:endParaRPr lang="ar-EG"/>
        </a:p>
      </dgm:t>
    </dgm:pt>
    <dgm:pt modelId="{53F1E6FE-82B9-4368-9712-E55B4BE402D7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2D8E2CB3-7E8C-4810-8D3B-878EA3623146}" type="parTrans" cxnId="{4E40BCD1-5A6C-44FD-BFDB-20A757492010}">
      <dgm:prSet/>
      <dgm:spPr/>
      <dgm:t>
        <a:bodyPr/>
        <a:lstStyle/>
        <a:p>
          <a:pPr rtl="1"/>
          <a:endParaRPr lang="ar-EG"/>
        </a:p>
      </dgm:t>
    </dgm:pt>
    <dgm:pt modelId="{49D86725-6931-408A-A6E3-8B2FB5869193}" type="sibTrans" cxnId="{4E40BCD1-5A6C-44FD-BFDB-20A757492010}">
      <dgm:prSet/>
      <dgm:spPr/>
      <dgm:t>
        <a:bodyPr/>
        <a:lstStyle/>
        <a:p>
          <a:pPr rtl="1"/>
          <a:endParaRPr lang="ar-EG"/>
        </a:p>
      </dgm:t>
    </dgm:pt>
    <dgm:pt modelId="{E950F099-0369-4DE6-AC5E-B37405A16307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dirty="0">
              <a:solidFill>
                <a:srgbClr val="002060"/>
              </a:solidFill>
            </a:rPr>
            <a:t>صعوبة الوصول للمعلومات تعيق سير العمل </a:t>
          </a:r>
        </a:p>
      </dgm:t>
    </dgm:pt>
    <dgm:pt modelId="{43455CFA-F1ED-401C-928F-71FA14D14EBF}" type="parTrans" cxnId="{FCE71081-1C46-444D-900A-9E877A4C4521}">
      <dgm:prSet/>
      <dgm:spPr/>
      <dgm:t>
        <a:bodyPr/>
        <a:lstStyle/>
        <a:p>
          <a:pPr rtl="1"/>
          <a:endParaRPr lang="ar-EG"/>
        </a:p>
      </dgm:t>
    </dgm:pt>
    <dgm:pt modelId="{CDB9C93E-1D1D-438A-96CE-5B08BA484367}" type="sibTrans" cxnId="{FCE71081-1C46-444D-900A-9E877A4C4521}">
      <dgm:prSet/>
      <dgm:spPr/>
      <dgm:t>
        <a:bodyPr/>
        <a:lstStyle/>
        <a:p>
          <a:pPr rtl="1"/>
          <a:endParaRPr lang="ar-EG"/>
        </a:p>
      </dgm:t>
    </dgm:pt>
    <dgm:pt modelId="{4BC4301B-67AF-45B3-83CC-0A9516F34631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E6ED5119-1CF9-4944-8C06-D9786BBA7B9F}" type="parTrans" cxnId="{E4F83997-81AF-4517-8D9E-BE094A4B5EB8}">
      <dgm:prSet/>
      <dgm:spPr/>
      <dgm:t>
        <a:bodyPr/>
        <a:lstStyle/>
        <a:p>
          <a:pPr rtl="1"/>
          <a:endParaRPr lang="ar-EG"/>
        </a:p>
      </dgm:t>
    </dgm:pt>
    <dgm:pt modelId="{9EF11A6A-6060-409D-9540-EFC59382CAB2}" type="sibTrans" cxnId="{E4F83997-81AF-4517-8D9E-BE094A4B5EB8}">
      <dgm:prSet/>
      <dgm:spPr/>
      <dgm:t>
        <a:bodyPr/>
        <a:lstStyle/>
        <a:p>
          <a:pPr rtl="1"/>
          <a:endParaRPr lang="ar-EG"/>
        </a:p>
      </dgm:t>
    </dgm:pt>
    <dgm:pt modelId="{92D5CC46-2090-42B0-82D1-CACD219A29E1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endParaRPr lang="ar-EG" dirty="0">
            <a:solidFill>
              <a:srgbClr val="002060"/>
            </a:solidFill>
          </a:endParaRPr>
        </a:p>
      </dgm:t>
    </dgm:pt>
    <dgm:pt modelId="{18EE6D9A-7836-4F6A-9A8D-5A40D52D888E}" type="parTrans" cxnId="{94EF3EC6-02BB-45F4-A8ED-317BC18F5EA5}">
      <dgm:prSet/>
      <dgm:spPr/>
      <dgm:t>
        <a:bodyPr/>
        <a:lstStyle/>
        <a:p>
          <a:pPr rtl="1"/>
          <a:endParaRPr lang="ar-EG"/>
        </a:p>
      </dgm:t>
    </dgm:pt>
    <dgm:pt modelId="{779F3DE4-8E60-48CC-9C5D-89455D2A1237}" type="sibTrans" cxnId="{94EF3EC6-02BB-45F4-A8ED-317BC18F5EA5}">
      <dgm:prSet/>
      <dgm:spPr/>
      <dgm:t>
        <a:bodyPr/>
        <a:lstStyle/>
        <a:p>
          <a:pPr rtl="1"/>
          <a:endParaRPr lang="ar-EG"/>
        </a:p>
      </dgm:t>
    </dgm:pt>
    <dgm:pt modelId="{B01650CC-8785-43B2-A67D-B19558E3755B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dirty="0">
              <a:solidFill>
                <a:srgbClr val="002060"/>
              </a:solidFill>
            </a:rPr>
            <a:t>تكرار البيانات يؤدي إلى إهدار الوقت والموارد </a:t>
          </a:r>
        </a:p>
      </dgm:t>
    </dgm:pt>
    <dgm:pt modelId="{BE90E43E-241A-4578-BABD-E976E518FA20}" type="parTrans" cxnId="{D5359092-2643-4FD0-B9CC-2028607513F7}">
      <dgm:prSet/>
      <dgm:spPr/>
      <dgm:t>
        <a:bodyPr/>
        <a:lstStyle/>
        <a:p>
          <a:pPr rtl="1"/>
          <a:endParaRPr lang="ar-EG"/>
        </a:p>
      </dgm:t>
    </dgm:pt>
    <dgm:pt modelId="{C5684936-327D-4DAB-A307-046CA2DED493}" type="sibTrans" cxnId="{D5359092-2643-4FD0-B9CC-2028607513F7}">
      <dgm:prSet/>
      <dgm:spPr/>
      <dgm:t>
        <a:bodyPr/>
        <a:lstStyle/>
        <a:p>
          <a:pPr rtl="1"/>
          <a:endParaRPr lang="ar-EG"/>
        </a:p>
      </dgm:t>
    </dgm:pt>
    <dgm:pt modelId="{266CD994-7298-413B-8634-5D9C1FC9833B}" type="pres">
      <dgm:prSet presAssocID="{21513D50-0140-444B-96F8-163EB4E19EF3}" presName="linearFlow" presStyleCnt="0">
        <dgm:presLayoutVars>
          <dgm:dir/>
          <dgm:animLvl val="lvl"/>
          <dgm:resizeHandles/>
        </dgm:presLayoutVars>
      </dgm:prSet>
      <dgm:spPr/>
    </dgm:pt>
    <dgm:pt modelId="{39B76921-10B0-48AB-AB80-13EF47369CDA}" type="pres">
      <dgm:prSet presAssocID="{2C282FF5-4D5E-4AEE-86C7-86C365E20D49}" presName="compositeNode" presStyleCnt="0">
        <dgm:presLayoutVars>
          <dgm:bulletEnabled val="1"/>
        </dgm:presLayoutVars>
      </dgm:prSet>
      <dgm:spPr/>
    </dgm:pt>
    <dgm:pt modelId="{3DC8C619-11FE-4777-9FAF-DF6E416FA07F}" type="pres">
      <dgm:prSet presAssocID="{2C282FF5-4D5E-4AEE-86C7-86C365E20D49}" presName="imag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46AA2E23-9EB2-47CC-8A4A-2E166530DD4D}" type="pres">
      <dgm:prSet presAssocID="{2C282FF5-4D5E-4AEE-86C7-86C365E20D49}" presName="childNode" presStyleLbl="node1" presStyleIdx="0" presStyleCnt="3">
        <dgm:presLayoutVars>
          <dgm:bulletEnabled val="1"/>
        </dgm:presLayoutVars>
      </dgm:prSet>
      <dgm:spPr/>
    </dgm:pt>
    <dgm:pt modelId="{6666167C-6F4D-492D-B504-FD3E38AD9970}" type="pres">
      <dgm:prSet presAssocID="{2C282FF5-4D5E-4AEE-86C7-86C365E20D49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CA8893E8-7B4D-4517-B410-86900899E32A}" type="pres">
      <dgm:prSet presAssocID="{600CC299-09BC-4830-9BC4-C9F8A9A573D1}" presName="sibTrans" presStyleCnt="0"/>
      <dgm:spPr/>
    </dgm:pt>
    <dgm:pt modelId="{E98F00EE-9A72-4700-B7F3-37F3A60CBB74}" type="pres">
      <dgm:prSet presAssocID="{2F830CF9-001C-4444-9F7E-15915536297F}" presName="compositeNode" presStyleCnt="0">
        <dgm:presLayoutVars>
          <dgm:bulletEnabled val="1"/>
        </dgm:presLayoutVars>
      </dgm:prSet>
      <dgm:spPr/>
    </dgm:pt>
    <dgm:pt modelId="{A10E46F4-2264-4050-9EEA-687B6476812A}" type="pres">
      <dgm:prSet presAssocID="{2F830CF9-001C-4444-9F7E-15915536297F}" presName="imag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55000" r="-55000"/>
          </a:stretch>
        </a:blipFill>
      </dgm:spPr>
    </dgm:pt>
    <dgm:pt modelId="{1FA29792-82C0-4A0B-B079-4D07C040FE73}" type="pres">
      <dgm:prSet presAssocID="{2F830CF9-001C-4444-9F7E-15915536297F}" presName="childNode" presStyleLbl="node1" presStyleIdx="1" presStyleCnt="3">
        <dgm:presLayoutVars>
          <dgm:bulletEnabled val="1"/>
        </dgm:presLayoutVars>
      </dgm:prSet>
      <dgm:spPr/>
    </dgm:pt>
    <dgm:pt modelId="{01288B30-C4EA-468E-B4D3-C55D3C8475F8}" type="pres">
      <dgm:prSet presAssocID="{2F830CF9-001C-4444-9F7E-15915536297F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62086108-43AE-400B-9D8B-6249B95205B6}" type="pres">
      <dgm:prSet presAssocID="{18BF1B18-12D2-4BEA-95C9-055C840F9613}" presName="sibTrans" presStyleCnt="0"/>
      <dgm:spPr/>
    </dgm:pt>
    <dgm:pt modelId="{1B6769BC-F9ED-4B5A-82B6-327F9303C11C}" type="pres">
      <dgm:prSet presAssocID="{916ED8FC-795C-4B21-904B-C2ADE4E36A27}" presName="compositeNode" presStyleCnt="0">
        <dgm:presLayoutVars>
          <dgm:bulletEnabled val="1"/>
        </dgm:presLayoutVars>
      </dgm:prSet>
      <dgm:spPr/>
    </dgm:pt>
    <dgm:pt modelId="{33720F61-1BB3-4775-8D80-4341CD907AF6}" type="pres">
      <dgm:prSet presAssocID="{916ED8FC-795C-4B21-904B-C2ADE4E36A27}" presName="imag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FE13355D-CA6B-49EC-A650-9F0EABE72A5D}" type="pres">
      <dgm:prSet presAssocID="{916ED8FC-795C-4B21-904B-C2ADE4E36A27}" presName="childNode" presStyleLbl="node1" presStyleIdx="2" presStyleCnt="3">
        <dgm:presLayoutVars>
          <dgm:bulletEnabled val="1"/>
        </dgm:presLayoutVars>
      </dgm:prSet>
      <dgm:spPr/>
    </dgm:pt>
    <dgm:pt modelId="{4189605F-EFDC-430F-83D0-9A2F0ACED3F8}" type="pres">
      <dgm:prSet presAssocID="{916ED8FC-795C-4B21-904B-C2ADE4E36A27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A72B5A00-34F8-466F-A560-1164CB4E52B7}" srcId="{21513D50-0140-444B-96F8-163EB4E19EF3}" destId="{916ED8FC-795C-4B21-904B-C2ADE4E36A27}" srcOrd="2" destOrd="0" parTransId="{997E8133-451E-43E5-B0A4-BEAAA57DA3CA}" sibTransId="{492ACADF-7B17-4ED8-A99E-A40093FE8656}"/>
    <dgm:cxn modelId="{CBD40606-7FAE-48C5-88C8-F75321C15252}" srcId="{2C282FF5-4D5E-4AEE-86C7-86C365E20D49}" destId="{B1AEF0CA-DA61-4301-AB6E-6AB3D14C2D9F}" srcOrd="0" destOrd="0" parTransId="{3D1E535A-5EF4-494C-8CF7-2BEB2590C2EB}" sibTransId="{A1E3751C-4CC0-4AA9-83F5-0F888B86BD03}"/>
    <dgm:cxn modelId="{D974BC22-09E2-44F0-9366-4D21EA5D1966}" srcId="{916ED8FC-795C-4B21-904B-C2ADE4E36A27}" destId="{E98817DC-1B09-4C84-AB25-73C30C062DC3}" srcOrd="3" destOrd="0" parTransId="{C13BA634-961E-4EE7-A302-CB2320944CB2}" sibTransId="{A4F699F5-A29A-41D0-AAA4-83C0AA4E44E2}"/>
    <dgm:cxn modelId="{27F69A23-1DFA-4F87-9AFC-F31B765B87C2}" type="presOf" srcId="{2F830CF9-001C-4444-9F7E-15915536297F}" destId="{01288B30-C4EA-468E-B4D3-C55D3C8475F8}" srcOrd="0" destOrd="0" presId="urn:microsoft.com/office/officeart/2005/8/layout/hList2"/>
    <dgm:cxn modelId="{46F0DE28-BEA2-4491-94B6-778DBD162E91}" type="presOf" srcId="{E98817DC-1B09-4C84-AB25-73C30C062DC3}" destId="{FE13355D-CA6B-49EC-A650-9F0EABE72A5D}" srcOrd="0" destOrd="3" presId="urn:microsoft.com/office/officeart/2005/8/layout/hList2"/>
    <dgm:cxn modelId="{9C615133-83C3-4C77-89C3-A013713A95C6}" type="presOf" srcId="{21513D50-0140-444B-96F8-163EB4E19EF3}" destId="{266CD994-7298-413B-8634-5D9C1FC9833B}" srcOrd="0" destOrd="0" presId="urn:microsoft.com/office/officeart/2005/8/layout/hList2"/>
    <dgm:cxn modelId="{EBABE836-78AF-4FD5-A01F-6309A364379B}" srcId="{2C282FF5-4D5E-4AEE-86C7-86C365E20D49}" destId="{AF11722B-0C55-4105-B21F-F45F71524CC2}" srcOrd="1" destOrd="0" parTransId="{52C879B5-6936-4812-B98B-C9BE61C183E4}" sibTransId="{2112AE52-3540-43AE-B2D3-430ED3604B91}"/>
    <dgm:cxn modelId="{3A7F6160-FCBE-42B5-8A73-C6DA37801D05}" type="presOf" srcId="{916ED8FC-795C-4B21-904B-C2ADE4E36A27}" destId="{4189605F-EFDC-430F-83D0-9A2F0ACED3F8}" srcOrd="0" destOrd="0" presId="urn:microsoft.com/office/officeart/2005/8/layout/hList2"/>
    <dgm:cxn modelId="{2BF19F70-1BE2-44E6-8E1C-EB778A3B67B3}" srcId="{21513D50-0140-444B-96F8-163EB4E19EF3}" destId="{2F830CF9-001C-4444-9F7E-15915536297F}" srcOrd="1" destOrd="0" parTransId="{50BC73BC-563F-4FD4-B208-427CBC83A5ED}" sibTransId="{18BF1B18-12D2-4BEA-95C9-055C840F9613}"/>
    <dgm:cxn modelId="{D27A2E51-9D1D-4477-B97E-0A9FBD9B2E8E}" type="presOf" srcId="{2C282FF5-4D5E-4AEE-86C7-86C365E20D49}" destId="{6666167C-6F4D-492D-B504-FD3E38AD9970}" srcOrd="0" destOrd="0" presId="urn:microsoft.com/office/officeart/2005/8/layout/hList2"/>
    <dgm:cxn modelId="{BEE70357-2130-4C7A-947C-44D0A078BA64}" type="presOf" srcId="{E950F099-0369-4DE6-AC5E-B37405A16307}" destId="{1FA29792-82C0-4A0B-B079-4D07C040FE73}" srcOrd="0" destOrd="1" presId="urn:microsoft.com/office/officeart/2005/8/layout/hList2"/>
    <dgm:cxn modelId="{547FAE59-502C-4292-BF4F-A54D490B32F3}" type="presOf" srcId="{53F1E6FE-82B9-4368-9712-E55B4BE402D7}" destId="{1FA29792-82C0-4A0B-B079-4D07C040FE73}" srcOrd="0" destOrd="0" presId="urn:microsoft.com/office/officeart/2005/8/layout/hList2"/>
    <dgm:cxn modelId="{FCE71081-1C46-444D-900A-9E877A4C4521}" srcId="{2F830CF9-001C-4444-9F7E-15915536297F}" destId="{E950F099-0369-4DE6-AC5E-B37405A16307}" srcOrd="1" destOrd="0" parTransId="{43455CFA-F1ED-401C-928F-71FA14D14EBF}" sibTransId="{CDB9C93E-1D1D-438A-96CE-5B08BA484367}"/>
    <dgm:cxn modelId="{D5359092-2643-4FD0-B9CC-2028607513F7}" srcId="{916ED8FC-795C-4B21-904B-C2ADE4E36A27}" destId="{B01650CC-8785-43B2-A67D-B19558E3755B}" srcOrd="2" destOrd="0" parTransId="{BE90E43E-241A-4578-BABD-E976E518FA20}" sibTransId="{C5684936-327D-4DAB-A307-046CA2DED493}"/>
    <dgm:cxn modelId="{E4F83997-81AF-4517-8D9E-BE094A4B5EB8}" srcId="{916ED8FC-795C-4B21-904B-C2ADE4E36A27}" destId="{4BC4301B-67AF-45B3-83CC-0A9516F34631}" srcOrd="0" destOrd="0" parTransId="{E6ED5119-1CF9-4944-8C06-D9786BBA7B9F}" sibTransId="{9EF11A6A-6060-409D-9540-EFC59382CAB2}"/>
    <dgm:cxn modelId="{69561D9A-7DEC-4067-9E7C-2240411A4AC3}" type="presOf" srcId="{AF11722B-0C55-4105-B21F-F45F71524CC2}" destId="{46AA2E23-9EB2-47CC-8A4A-2E166530DD4D}" srcOrd="0" destOrd="1" presId="urn:microsoft.com/office/officeart/2005/8/layout/hList2"/>
    <dgm:cxn modelId="{C555EE9E-30FD-4465-904F-46C2908C8145}" srcId="{21513D50-0140-444B-96F8-163EB4E19EF3}" destId="{2C282FF5-4D5E-4AEE-86C7-86C365E20D49}" srcOrd="0" destOrd="0" parTransId="{9B24BAEC-C6CA-4A79-ADF1-257BA4D0C6A8}" sibTransId="{600CC299-09BC-4830-9BC4-C9F8A9A573D1}"/>
    <dgm:cxn modelId="{42E13EAF-86C1-4363-B7A7-F94A37C4196D}" type="presOf" srcId="{4BC4301B-67AF-45B3-83CC-0A9516F34631}" destId="{FE13355D-CA6B-49EC-A650-9F0EABE72A5D}" srcOrd="0" destOrd="0" presId="urn:microsoft.com/office/officeart/2005/8/layout/hList2"/>
    <dgm:cxn modelId="{2A03BEC2-D3ED-481C-A4BA-D02CC109D9E7}" type="presOf" srcId="{B1AEF0CA-DA61-4301-AB6E-6AB3D14C2D9F}" destId="{46AA2E23-9EB2-47CC-8A4A-2E166530DD4D}" srcOrd="0" destOrd="0" presId="urn:microsoft.com/office/officeart/2005/8/layout/hList2"/>
    <dgm:cxn modelId="{94EF3EC6-02BB-45F4-A8ED-317BC18F5EA5}" srcId="{916ED8FC-795C-4B21-904B-C2ADE4E36A27}" destId="{92D5CC46-2090-42B0-82D1-CACD219A29E1}" srcOrd="1" destOrd="0" parTransId="{18EE6D9A-7836-4F6A-9A8D-5A40D52D888E}" sibTransId="{779F3DE4-8E60-48CC-9C5D-89455D2A1237}"/>
    <dgm:cxn modelId="{12BAC1C9-48C6-4DD6-9C37-FE5D5802D153}" type="presOf" srcId="{92D5CC46-2090-42B0-82D1-CACD219A29E1}" destId="{FE13355D-CA6B-49EC-A650-9F0EABE72A5D}" srcOrd="0" destOrd="1" presId="urn:microsoft.com/office/officeart/2005/8/layout/hList2"/>
    <dgm:cxn modelId="{4E40BCD1-5A6C-44FD-BFDB-20A757492010}" srcId="{2F830CF9-001C-4444-9F7E-15915536297F}" destId="{53F1E6FE-82B9-4368-9712-E55B4BE402D7}" srcOrd="0" destOrd="0" parTransId="{2D8E2CB3-7E8C-4810-8D3B-878EA3623146}" sibTransId="{49D86725-6931-408A-A6E3-8B2FB5869193}"/>
    <dgm:cxn modelId="{147404EE-BC37-4025-B4CA-EC7B12D8EB28}" type="presOf" srcId="{B01650CC-8785-43B2-A67D-B19558E3755B}" destId="{FE13355D-CA6B-49EC-A650-9F0EABE72A5D}" srcOrd="0" destOrd="2" presId="urn:microsoft.com/office/officeart/2005/8/layout/hList2"/>
    <dgm:cxn modelId="{18D76E46-A25D-4B6F-A770-B101ED3C0D12}" type="presParOf" srcId="{266CD994-7298-413B-8634-5D9C1FC9833B}" destId="{39B76921-10B0-48AB-AB80-13EF47369CDA}" srcOrd="0" destOrd="0" presId="urn:microsoft.com/office/officeart/2005/8/layout/hList2"/>
    <dgm:cxn modelId="{A0EEE344-8A7A-4A3C-BA31-8D91210EE89F}" type="presParOf" srcId="{39B76921-10B0-48AB-AB80-13EF47369CDA}" destId="{3DC8C619-11FE-4777-9FAF-DF6E416FA07F}" srcOrd="0" destOrd="0" presId="urn:microsoft.com/office/officeart/2005/8/layout/hList2"/>
    <dgm:cxn modelId="{90D9B128-2D2A-4D93-A798-CDCD4DB10EC7}" type="presParOf" srcId="{39B76921-10B0-48AB-AB80-13EF47369CDA}" destId="{46AA2E23-9EB2-47CC-8A4A-2E166530DD4D}" srcOrd="1" destOrd="0" presId="urn:microsoft.com/office/officeart/2005/8/layout/hList2"/>
    <dgm:cxn modelId="{45560C35-A2C6-4517-A9E2-1F7FCF2C92CF}" type="presParOf" srcId="{39B76921-10B0-48AB-AB80-13EF47369CDA}" destId="{6666167C-6F4D-492D-B504-FD3E38AD9970}" srcOrd="2" destOrd="0" presId="urn:microsoft.com/office/officeart/2005/8/layout/hList2"/>
    <dgm:cxn modelId="{A776CED5-112A-4582-A552-2C0CBDEF46CA}" type="presParOf" srcId="{266CD994-7298-413B-8634-5D9C1FC9833B}" destId="{CA8893E8-7B4D-4517-B410-86900899E32A}" srcOrd="1" destOrd="0" presId="urn:microsoft.com/office/officeart/2005/8/layout/hList2"/>
    <dgm:cxn modelId="{DACD611F-DE41-4729-86B4-442281AA3D9B}" type="presParOf" srcId="{266CD994-7298-413B-8634-5D9C1FC9833B}" destId="{E98F00EE-9A72-4700-B7F3-37F3A60CBB74}" srcOrd="2" destOrd="0" presId="urn:microsoft.com/office/officeart/2005/8/layout/hList2"/>
    <dgm:cxn modelId="{47847C00-1E3D-47C4-A240-1A1869477EA5}" type="presParOf" srcId="{E98F00EE-9A72-4700-B7F3-37F3A60CBB74}" destId="{A10E46F4-2264-4050-9EEA-687B6476812A}" srcOrd="0" destOrd="0" presId="urn:microsoft.com/office/officeart/2005/8/layout/hList2"/>
    <dgm:cxn modelId="{CF68785F-8FB2-485E-B090-F0CDE5E362BD}" type="presParOf" srcId="{E98F00EE-9A72-4700-B7F3-37F3A60CBB74}" destId="{1FA29792-82C0-4A0B-B079-4D07C040FE73}" srcOrd="1" destOrd="0" presId="urn:microsoft.com/office/officeart/2005/8/layout/hList2"/>
    <dgm:cxn modelId="{F3EBE8A8-F3FF-4097-B377-520C45BBA5E4}" type="presParOf" srcId="{E98F00EE-9A72-4700-B7F3-37F3A60CBB74}" destId="{01288B30-C4EA-468E-B4D3-C55D3C8475F8}" srcOrd="2" destOrd="0" presId="urn:microsoft.com/office/officeart/2005/8/layout/hList2"/>
    <dgm:cxn modelId="{A53EDB2A-81B7-4867-AF6A-FD178A6CE43B}" type="presParOf" srcId="{266CD994-7298-413B-8634-5D9C1FC9833B}" destId="{62086108-43AE-400B-9D8B-6249B95205B6}" srcOrd="3" destOrd="0" presId="urn:microsoft.com/office/officeart/2005/8/layout/hList2"/>
    <dgm:cxn modelId="{F6D3E39F-52EC-4271-89C9-D283104CF504}" type="presParOf" srcId="{266CD994-7298-413B-8634-5D9C1FC9833B}" destId="{1B6769BC-F9ED-4B5A-82B6-327F9303C11C}" srcOrd="4" destOrd="0" presId="urn:microsoft.com/office/officeart/2005/8/layout/hList2"/>
    <dgm:cxn modelId="{123CB0F6-5285-4216-A252-6CA0F8FFAE6A}" type="presParOf" srcId="{1B6769BC-F9ED-4B5A-82B6-327F9303C11C}" destId="{33720F61-1BB3-4775-8D80-4341CD907AF6}" srcOrd="0" destOrd="0" presId="urn:microsoft.com/office/officeart/2005/8/layout/hList2"/>
    <dgm:cxn modelId="{6788581F-C0B6-4F7B-B7F2-D4EE27B47F45}" type="presParOf" srcId="{1B6769BC-F9ED-4B5A-82B6-327F9303C11C}" destId="{FE13355D-CA6B-49EC-A650-9F0EABE72A5D}" srcOrd="1" destOrd="0" presId="urn:microsoft.com/office/officeart/2005/8/layout/hList2"/>
    <dgm:cxn modelId="{6AC46361-B967-487A-B93F-B8CD148B358A}" type="presParOf" srcId="{1B6769BC-F9ED-4B5A-82B6-327F9303C11C}" destId="{4189605F-EFDC-430F-83D0-9A2F0ACED3F8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CF96CE-A5E7-4FDA-A7AF-0721F3A656F2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EG"/>
        </a:p>
      </dgm:t>
    </dgm:pt>
    <dgm:pt modelId="{57C0DBFE-23CF-4FFE-9073-5692CAF796EA}">
      <dgm:prSet phldrT="[Text]"/>
      <dgm:spPr>
        <a:solidFill>
          <a:schemeClr val="bg2"/>
        </a:solidFill>
      </dgm:spPr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b="1" dirty="0">
              <a:solidFill>
                <a:srgbClr val="002060"/>
              </a:solidFill>
            </a:rPr>
            <a:t>الموظفون داخل مصلحة الضرائب العقارية </a:t>
          </a:r>
          <a:endParaRPr lang="ar-EG" dirty="0">
            <a:solidFill>
              <a:srgbClr val="002060"/>
            </a:solidFill>
          </a:endParaRPr>
        </a:p>
      </dgm:t>
    </dgm:pt>
    <dgm:pt modelId="{F3593288-512F-420E-B2D8-939DB1AD70C7}" type="parTrans" cxnId="{30D82935-E5EE-4E47-89C5-58AE3ACA90FE}">
      <dgm:prSet/>
      <dgm:spPr/>
      <dgm:t>
        <a:bodyPr/>
        <a:lstStyle/>
        <a:p>
          <a:pPr rtl="1"/>
          <a:endParaRPr lang="ar-EG"/>
        </a:p>
      </dgm:t>
    </dgm:pt>
    <dgm:pt modelId="{AAA906CE-E4E9-4B6E-98FF-E7FB53451B40}" type="sibTrans" cxnId="{30D82935-E5EE-4E47-89C5-58AE3ACA90FE}">
      <dgm:prSet/>
      <dgm:spPr/>
      <dgm:t>
        <a:bodyPr/>
        <a:lstStyle/>
        <a:p>
          <a:pPr rtl="1"/>
          <a:endParaRPr lang="ar-EG"/>
        </a:p>
      </dgm:t>
    </dgm:pt>
    <dgm:pt modelId="{656095E3-7DFA-4F51-8E5F-A51AE8F35685}">
      <dgm:prSet phldrT="[Text]"/>
      <dgm:spPr>
        <a:solidFill>
          <a:schemeClr val="bg2"/>
        </a:solidFill>
      </dgm:spPr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b="1" dirty="0">
              <a:solidFill>
                <a:srgbClr val="002060"/>
              </a:solidFill>
            </a:rPr>
            <a:t>الإدارة ومتخذي القرار </a:t>
          </a:r>
          <a:endParaRPr lang="ar-EG" dirty="0">
            <a:solidFill>
              <a:srgbClr val="002060"/>
            </a:solidFill>
          </a:endParaRPr>
        </a:p>
      </dgm:t>
    </dgm:pt>
    <dgm:pt modelId="{3D2FC752-13D3-4670-92E4-17A7C660F0CF}" type="parTrans" cxnId="{8892CAA9-4874-4E98-9F19-6F24C9F6CEC3}">
      <dgm:prSet/>
      <dgm:spPr/>
      <dgm:t>
        <a:bodyPr/>
        <a:lstStyle/>
        <a:p>
          <a:pPr rtl="1"/>
          <a:endParaRPr lang="ar-EG"/>
        </a:p>
      </dgm:t>
    </dgm:pt>
    <dgm:pt modelId="{D684127C-E571-4B37-9FEF-5BB7A40BBE9D}" type="sibTrans" cxnId="{8892CAA9-4874-4E98-9F19-6F24C9F6CEC3}">
      <dgm:prSet/>
      <dgm:spPr/>
      <dgm:t>
        <a:bodyPr/>
        <a:lstStyle/>
        <a:p>
          <a:pPr rtl="1"/>
          <a:endParaRPr lang="ar-EG"/>
        </a:p>
      </dgm:t>
    </dgm:pt>
    <dgm:pt modelId="{2927E6A8-A7E3-4A07-9374-130802E29732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b="1" dirty="0">
              <a:solidFill>
                <a:srgbClr val="002060"/>
              </a:solidFill>
            </a:rPr>
            <a:t>المواطنون (من خلال تحسين جودة الخدمة) </a:t>
          </a:r>
          <a:endParaRPr lang="ar-EG" dirty="0">
            <a:solidFill>
              <a:srgbClr val="002060"/>
            </a:solidFill>
          </a:endParaRPr>
        </a:p>
      </dgm:t>
    </dgm:pt>
    <dgm:pt modelId="{C7A9ABF4-9798-468C-AFFD-4BFE2F3A61C0}" type="parTrans" cxnId="{A868439C-6BA7-4718-8B26-6B90119D5363}">
      <dgm:prSet/>
      <dgm:spPr/>
      <dgm:t>
        <a:bodyPr/>
        <a:lstStyle/>
        <a:p>
          <a:pPr rtl="1"/>
          <a:endParaRPr lang="ar-EG"/>
        </a:p>
      </dgm:t>
    </dgm:pt>
    <dgm:pt modelId="{FBCBDBC7-6214-4086-AD04-58D64A580D46}" type="sibTrans" cxnId="{A868439C-6BA7-4718-8B26-6B90119D5363}">
      <dgm:prSet/>
      <dgm:spPr/>
      <dgm:t>
        <a:bodyPr/>
        <a:lstStyle/>
        <a:p>
          <a:pPr rtl="1"/>
          <a:endParaRPr lang="ar-EG"/>
        </a:p>
      </dgm:t>
    </dgm:pt>
    <dgm:pt modelId="{47F312D4-E885-413A-A8B0-724345D0BC43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b="1" dirty="0">
              <a:solidFill>
                <a:srgbClr val="002060"/>
              </a:solidFill>
            </a:rPr>
            <a:t>الدولة (من خلال تحسين الكفاءة وتقليل التكاليف) </a:t>
          </a:r>
          <a:endParaRPr lang="ar-EG" dirty="0">
            <a:solidFill>
              <a:srgbClr val="002060"/>
            </a:solidFill>
          </a:endParaRPr>
        </a:p>
      </dgm:t>
    </dgm:pt>
    <dgm:pt modelId="{B681CD8C-46DD-47CC-9894-27000D36EB73}" type="parTrans" cxnId="{970E4552-D22D-4932-943C-45C8D53E0ED8}">
      <dgm:prSet/>
      <dgm:spPr/>
      <dgm:t>
        <a:bodyPr/>
        <a:lstStyle/>
        <a:p>
          <a:pPr rtl="1"/>
          <a:endParaRPr lang="ar-EG"/>
        </a:p>
      </dgm:t>
    </dgm:pt>
    <dgm:pt modelId="{1C0ED943-B926-4221-BED9-DD06714953A7}" type="sibTrans" cxnId="{970E4552-D22D-4932-943C-45C8D53E0ED8}">
      <dgm:prSet/>
      <dgm:spPr/>
      <dgm:t>
        <a:bodyPr/>
        <a:lstStyle/>
        <a:p>
          <a:pPr rtl="1"/>
          <a:endParaRPr lang="ar-EG"/>
        </a:p>
      </dgm:t>
    </dgm:pt>
    <dgm:pt modelId="{33583A0E-DC85-4777-8347-B70B0983C391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ar-EG" b="1" dirty="0">
              <a:solidFill>
                <a:srgbClr val="002060"/>
              </a:solidFill>
            </a:rPr>
            <a:t>جهات الرقابة والمراجعة </a:t>
          </a:r>
          <a:endParaRPr lang="ar-EG" dirty="0">
            <a:solidFill>
              <a:srgbClr val="002060"/>
            </a:solidFill>
          </a:endParaRPr>
        </a:p>
      </dgm:t>
    </dgm:pt>
    <dgm:pt modelId="{621D4B06-3336-4A44-A782-31FE46E5A571}" type="parTrans" cxnId="{5F663258-A86B-4687-BA25-448C57ECFEB0}">
      <dgm:prSet/>
      <dgm:spPr/>
      <dgm:t>
        <a:bodyPr/>
        <a:lstStyle/>
        <a:p>
          <a:pPr rtl="1"/>
          <a:endParaRPr lang="ar-EG"/>
        </a:p>
      </dgm:t>
    </dgm:pt>
    <dgm:pt modelId="{00F25B66-A79F-42FD-B61C-927F2B93D663}" type="sibTrans" cxnId="{5F663258-A86B-4687-BA25-448C57ECFEB0}">
      <dgm:prSet/>
      <dgm:spPr/>
      <dgm:t>
        <a:bodyPr/>
        <a:lstStyle/>
        <a:p>
          <a:pPr rtl="1"/>
          <a:endParaRPr lang="ar-EG"/>
        </a:p>
      </dgm:t>
    </dgm:pt>
    <dgm:pt modelId="{DF2A3DB0-91EC-4694-91B2-FA82D3AAA0B1}" type="pres">
      <dgm:prSet presAssocID="{6ACF96CE-A5E7-4FDA-A7AF-0721F3A656F2}" presName="Name0" presStyleCnt="0">
        <dgm:presLayoutVars>
          <dgm:dir/>
          <dgm:resizeHandles val="exact"/>
        </dgm:presLayoutVars>
      </dgm:prSet>
      <dgm:spPr/>
    </dgm:pt>
    <dgm:pt modelId="{375D63AB-0FD5-48AB-A8DB-B27FA19F69F9}" type="pres">
      <dgm:prSet presAssocID="{6ACF96CE-A5E7-4FDA-A7AF-0721F3A656F2}" presName="cycle" presStyleCnt="0"/>
      <dgm:spPr/>
    </dgm:pt>
    <dgm:pt modelId="{39F4AC37-2E53-44E1-AB2F-E206B236C7AF}" type="pres">
      <dgm:prSet presAssocID="{57C0DBFE-23CF-4FFE-9073-5692CAF796EA}" presName="nodeFirstNode" presStyleLbl="node1" presStyleIdx="0" presStyleCnt="5" custScaleX="117450" custScaleY="128970">
        <dgm:presLayoutVars>
          <dgm:bulletEnabled val="1"/>
        </dgm:presLayoutVars>
      </dgm:prSet>
      <dgm:spPr/>
    </dgm:pt>
    <dgm:pt modelId="{710074A2-0374-4E62-8117-43C0D4413D9E}" type="pres">
      <dgm:prSet presAssocID="{AAA906CE-E4E9-4B6E-98FF-E7FB53451B40}" presName="sibTransFirstNode" presStyleLbl="bgShp" presStyleIdx="0" presStyleCnt="1"/>
      <dgm:spPr/>
    </dgm:pt>
    <dgm:pt modelId="{61C69FA9-96C7-4745-A162-027DA7DF3980}" type="pres">
      <dgm:prSet presAssocID="{656095E3-7DFA-4F51-8E5F-A51AE8F35685}" presName="nodeFollowingNodes" presStyleLbl="node1" presStyleIdx="1" presStyleCnt="5" custScaleX="129319" custScaleY="124009">
        <dgm:presLayoutVars>
          <dgm:bulletEnabled val="1"/>
        </dgm:presLayoutVars>
      </dgm:prSet>
      <dgm:spPr/>
    </dgm:pt>
    <dgm:pt modelId="{FD1A1CC5-3136-44B7-896A-C22959A7E7A0}" type="pres">
      <dgm:prSet presAssocID="{2927E6A8-A7E3-4A07-9374-130802E29732}" presName="nodeFollowingNodes" presStyleLbl="node1" presStyleIdx="2" presStyleCnt="5" custScaleX="110442" custScaleY="145186" custRadScaleRad="105354" custRadScaleInc="-17700">
        <dgm:presLayoutVars>
          <dgm:bulletEnabled val="1"/>
        </dgm:presLayoutVars>
      </dgm:prSet>
      <dgm:spPr/>
    </dgm:pt>
    <dgm:pt modelId="{D07E471B-BFFC-427C-A311-0BACC2D241EA}" type="pres">
      <dgm:prSet presAssocID="{47F312D4-E885-413A-A8B0-724345D0BC43}" presName="nodeFollowingNodes" presStyleLbl="node1" presStyleIdx="3" presStyleCnt="5" custScaleX="110240" custScaleY="136777" custRadScaleRad="93967" custRadScaleInc="8303">
        <dgm:presLayoutVars>
          <dgm:bulletEnabled val="1"/>
        </dgm:presLayoutVars>
      </dgm:prSet>
      <dgm:spPr/>
    </dgm:pt>
    <dgm:pt modelId="{355AC9C3-9A2C-456F-A85F-A899875B1C3C}" type="pres">
      <dgm:prSet presAssocID="{33583A0E-DC85-4777-8347-B70B0983C391}" presName="nodeFollowingNodes" presStyleLbl="node1" presStyleIdx="4" presStyleCnt="5" custScaleX="115338" custScaleY="121425">
        <dgm:presLayoutVars>
          <dgm:bulletEnabled val="1"/>
        </dgm:presLayoutVars>
      </dgm:prSet>
      <dgm:spPr/>
    </dgm:pt>
  </dgm:ptLst>
  <dgm:cxnLst>
    <dgm:cxn modelId="{7810010E-2BC1-4540-87CA-425F16B01A91}" type="presOf" srcId="{6ACF96CE-A5E7-4FDA-A7AF-0721F3A656F2}" destId="{DF2A3DB0-91EC-4694-91B2-FA82D3AAA0B1}" srcOrd="0" destOrd="0" presId="urn:microsoft.com/office/officeart/2005/8/layout/cycle3"/>
    <dgm:cxn modelId="{14236013-D276-42F1-BD46-FDFE0E634AA7}" type="presOf" srcId="{2927E6A8-A7E3-4A07-9374-130802E29732}" destId="{FD1A1CC5-3136-44B7-896A-C22959A7E7A0}" srcOrd="0" destOrd="0" presId="urn:microsoft.com/office/officeart/2005/8/layout/cycle3"/>
    <dgm:cxn modelId="{4F33ED23-CC1B-45D8-A9EC-6F2AB7687122}" type="presOf" srcId="{33583A0E-DC85-4777-8347-B70B0983C391}" destId="{355AC9C3-9A2C-456F-A85F-A899875B1C3C}" srcOrd="0" destOrd="0" presId="urn:microsoft.com/office/officeart/2005/8/layout/cycle3"/>
    <dgm:cxn modelId="{A695372A-E839-4271-9A64-62DCBDCE6AC4}" type="presOf" srcId="{656095E3-7DFA-4F51-8E5F-A51AE8F35685}" destId="{61C69FA9-96C7-4745-A162-027DA7DF3980}" srcOrd="0" destOrd="0" presId="urn:microsoft.com/office/officeart/2005/8/layout/cycle3"/>
    <dgm:cxn modelId="{30D82935-E5EE-4E47-89C5-58AE3ACA90FE}" srcId="{6ACF96CE-A5E7-4FDA-A7AF-0721F3A656F2}" destId="{57C0DBFE-23CF-4FFE-9073-5692CAF796EA}" srcOrd="0" destOrd="0" parTransId="{F3593288-512F-420E-B2D8-939DB1AD70C7}" sibTransId="{AAA906CE-E4E9-4B6E-98FF-E7FB53451B40}"/>
    <dgm:cxn modelId="{970E4552-D22D-4932-943C-45C8D53E0ED8}" srcId="{6ACF96CE-A5E7-4FDA-A7AF-0721F3A656F2}" destId="{47F312D4-E885-413A-A8B0-724345D0BC43}" srcOrd="3" destOrd="0" parTransId="{B681CD8C-46DD-47CC-9894-27000D36EB73}" sibTransId="{1C0ED943-B926-4221-BED9-DD06714953A7}"/>
    <dgm:cxn modelId="{5F663258-A86B-4687-BA25-448C57ECFEB0}" srcId="{6ACF96CE-A5E7-4FDA-A7AF-0721F3A656F2}" destId="{33583A0E-DC85-4777-8347-B70B0983C391}" srcOrd="4" destOrd="0" parTransId="{621D4B06-3336-4A44-A782-31FE46E5A571}" sibTransId="{00F25B66-A79F-42FD-B61C-927F2B93D663}"/>
    <dgm:cxn modelId="{F2A30281-B51A-4ED3-B55E-A130AAA5EA80}" type="presOf" srcId="{57C0DBFE-23CF-4FFE-9073-5692CAF796EA}" destId="{39F4AC37-2E53-44E1-AB2F-E206B236C7AF}" srcOrd="0" destOrd="0" presId="urn:microsoft.com/office/officeart/2005/8/layout/cycle3"/>
    <dgm:cxn modelId="{A868439C-6BA7-4718-8B26-6B90119D5363}" srcId="{6ACF96CE-A5E7-4FDA-A7AF-0721F3A656F2}" destId="{2927E6A8-A7E3-4A07-9374-130802E29732}" srcOrd="2" destOrd="0" parTransId="{C7A9ABF4-9798-468C-AFFD-4BFE2F3A61C0}" sibTransId="{FBCBDBC7-6214-4086-AD04-58D64A580D46}"/>
    <dgm:cxn modelId="{8892CAA9-4874-4E98-9F19-6F24C9F6CEC3}" srcId="{6ACF96CE-A5E7-4FDA-A7AF-0721F3A656F2}" destId="{656095E3-7DFA-4F51-8E5F-A51AE8F35685}" srcOrd="1" destOrd="0" parTransId="{3D2FC752-13D3-4670-92E4-17A7C660F0CF}" sibTransId="{D684127C-E571-4B37-9FEF-5BB7A40BBE9D}"/>
    <dgm:cxn modelId="{81FCEBFB-E640-49C3-8E00-5BA744BE750B}" type="presOf" srcId="{AAA906CE-E4E9-4B6E-98FF-E7FB53451B40}" destId="{710074A2-0374-4E62-8117-43C0D4413D9E}" srcOrd="0" destOrd="0" presId="urn:microsoft.com/office/officeart/2005/8/layout/cycle3"/>
    <dgm:cxn modelId="{C7A705FD-6C53-4B80-9010-38CB1F4E8288}" type="presOf" srcId="{47F312D4-E885-413A-A8B0-724345D0BC43}" destId="{D07E471B-BFFC-427C-A311-0BACC2D241EA}" srcOrd="0" destOrd="0" presId="urn:microsoft.com/office/officeart/2005/8/layout/cycle3"/>
    <dgm:cxn modelId="{AF1F1F0E-0416-4E7B-BDD8-1309E6D76282}" type="presParOf" srcId="{DF2A3DB0-91EC-4694-91B2-FA82D3AAA0B1}" destId="{375D63AB-0FD5-48AB-A8DB-B27FA19F69F9}" srcOrd="0" destOrd="0" presId="urn:microsoft.com/office/officeart/2005/8/layout/cycle3"/>
    <dgm:cxn modelId="{612A793E-EC7E-4D55-9B97-1D6ECC33A136}" type="presParOf" srcId="{375D63AB-0FD5-48AB-A8DB-B27FA19F69F9}" destId="{39F4AC37-2E53-44E1-AB2F-E206B236C7AF}" srcOrd="0" destOrd="0" presId="urn:microsoft.com/office/officeart/2005/8/layout/cycle3"/>
    <dgm:cxn modelId="{AB487ECF-1449-46E3-8B6B-2D38E52520D9}" type="presParOf" srcId="{375D63AB-0FD5-48AB-A8DB-B27FA19F69F9}" destId="{710074A2-0374-4E62-8117-43C0D4413D9E}" srcOrd="1" destOrd="0" presId="urn:microsoft.com/office/officeart/2005/8/layout/cycle3"/>
    <dgm:cxn modelId="{DF21DCCC-2459-4DB6-89AB-E39AC6BDDF42}" type="presParOf" srcId="{375D63AB-0FD5-48AB-A8DB-B27FA19F69F9}" destId="{61C69FA9-96C7-4745-A162-027DA7DF3980}" srcOrd="2" destOrd="0" presId="urn:microsoft.com/office/officeart/2005/8/layout/cycle3"/>
    <dgm:cxn modelId="{F4546C81-9131-4BA8-ACA4-CAF277F7CA70}" type="presParOf" srcId="{375D63AB-0FD5-48AB-A8DB-B27FA19F69F9}" destId="{FD1A1CC5-3136-44B7-896A-C22959A7E7A0}" srcOrd="3" destOrd="0" presId="urn:microsoft.com/office/officeart/2005/8/layout/cycle3"/>
    <dgm:cxn modelId="{6D71003D-A3EF-448A-BCE3-0ED50FCBC37E}" type="presParOf" srcId="{375D63AB-0FD5-48AB-A8DB-B27FA19F69F9}" destId="{D07E471B-BFFC-427C-A311-0BACC2D241EA}" srcOrd="4" destOrd="0" presId="urn:microsoft.com/office/officeart/2005/8/layout/cycle3"/>
    <dgm:cxn modelId="{7CFCCA72-A6B1-4BC0-BA56-BE7D9460AC19}" type="presParOf" srcId="{375D63AB-0FD5-48AB-A8DB-B27FA19F69F9}" destId="{355AC9C3-9A2C-456F-A85F-A899875B1C3C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6167C-6F4D-492D-B504-FD3E38AD9970}">
      <dsp:nvSpPr>
        <dsp:cNvPr id="0" name=""/>
        <dsp:cNvSpPr/>
      </dsp:nvSpPr>
      <dsp:spPr>
        <a:xfrm rot="16200000">
          <a:off x="-970015" y="1670445"/>
          <a:ext cx="2496216" cy="439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7538" bIns="0" numCol="1" spcCol="1270" anchor="t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ar-EG" sz="3300" kern="1200" dirty="0">
            <a:solidFill>
              <a:srgbClr val="002060"/>
            </a:solidFill>
          </a:endParaRPr>
        </a:p>
      </dsp:txBody>
      <dsp:txXfrm>
        <a:off x="-970015" y="1670445"/>
        <a:ext cx="2496216" cy="439413"/>
      </dsp:txXfrm>
    </dsp:sp>
    <dsp:sp modelId="{46AA2E23-9EB2-47CC-8A4A-2E166530DD4D}">
      <dsp:nvSpPr>
        <dsp:cNvPr id="0" name=""/>
        <dsp:cNvSpPr/>
      </dsp:nvSpPr>
      <dsp:spPr>
        <a:xfrm>
          <a:off x="497799" y="642043"/>
          <a:ext cx="2188743" cy="2496216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387538" rIns="199136" bIns="199136" numCol="1" spcCol="1270" anchor="t" anchorCtr="0">
          <a:noAutofit/>
        </a:bodyPr>
        <a:lstStyle/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EG" sz="2200" kern="1200" dirty="0">
            <a:solidFill>
              <a:srgbClr val="002060"/>
            </a:solidFill>
          </a:endParaRPr>
        </a:p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ar-EG" sz="2200" kern="1200" dirty="0">
              <a:solidFill>
                <a:srgbClr val="002060"/>
              </a:solidFill>
            </a:rPr>
            <a:t>غياب الرقمنة يقلل من كفاءة المتابعة والرقابة </a:t>
          </a:r>
        </a:p>
      </dsp:txBody>
      <dsp:txXfrm>
        <a:off x="497799" y="642043"/>
        <a:ext cx="2188743" cy="2496216"/>
      </dsp:txXfrm>
    </dsp:sp>
    <dsp:sp modelId="{3DC8C619-11FE-4777-9FAF-DF6E416FA07F}">
      <dsp:nvSpPr>
        <dsp:cNvPr id="0" name=""/>
        <dsp:cNvSpPr/>
      </dsp:nvSpPr>
      <dsp:spPr>
        <a:xfrm>
          <a:off x="58385" y="62017"/>
          <a:ext cx="878826" cy="878826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88B30-C4EA-468E-B4D3-C55D3C8475F8}">
      <dsp:nvSpPr>
        <dsp:cNvPr id="0" name=""/>
        <dsp:cNvSpPr/>
      </dsp:nvSpPr>
      <dsp:spPr>
        <a:xfrm rot="16200000">
          <a:off x="2245018" y="1670445"/>
          <a:ext cx="2496216" cy="439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7538" bIns="0" numCol="1" spcCol="1270" anchor="t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ar-EG" sz="3300" kern="1200" dirty="0">
            <a:solidFill>
              <a:srgbClr val="002060"/>
            </a:solidFill>
          </a:endParaRPr>
        </a:p>
      </dsp:txBody>
      <dsp:txXfrm>
        <a:off x="2245018" y="1670445"/>
        <a:ext cx="2496216" cy="439413"/>
      </dsp:txXfrm>
    </dsp:sp>
    <dsp:sp modelId="{1FA29792-82C0-4A0B-B079-4D07C040FE73}">
      <dsp:nvSpPr>
        <dsp:cNvPr id="0" name=""/>
        <dsp:cNvSpPr/>
      </dsp:nvSpPr>
      <dsp:spPr>
        <a:xfrm>
          <a:off x="3712833" y="642043"/>
          <a:ext cx="2188743" cy="2496216"/>
        </a:xfrm>
        <a:prstGeom prst="rect">
          <a:avLst/>
        </a:prstGeom>
        <a:solidFill>
          <a:schemeClr val="accent6">
            <a:shade val="50000"/>
            <a:hueOff val="32242"/>
            <a:satOff val="-1506"/>
            <a:lumOff val="285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387538" rIns="199136" bIns="199136" numCol="1" spcCol="1270" anchor="t" anchorCtr="0">
          <a:noAutofit/>
        </a:bodyPr>
        <a:lstStyle/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EG" sz="2200" kern="1200" dirty="0">
            <a:solidFill>
              <a:srgbClr val="002060"/>
            </a:solidFill>
          </a:endParaRPr>
        </a:p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ar-EG" sz="2200" kern="1200" dirty="0">
              <a:solidFill>
                <a:srgbClr val="002060"/>
              </a:solidFill>
            </a:rPr>
            <a:t>صعوبة الوصول للمعلومات تعيق سير العمل </a:t>
          </a:r>
        </a:p>
      </dsp:txBody>
      <dsp:txXfrm>
        <a:off x="3712833" y="642043"/>
        <a:ext cx="2188743" cy="2496216"/>
      </dsp:txXfrm>
    </dsp:sp>
    <dsp:sp modelId="{A10E46F4-2264-4050-9EEA-687B6476812A}">
      <dsp:nvSpPr>
        <dsp:cNvPr id="0" name=""/>
        <dsp:cNvSpPr/>
      </dsp:nvSpPr>
      <dsp:spPr>
        <a:xfrm>
          <a:off x="3273420" y="62017"/>
          <a:ext cx="878826" cy="878826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55000" r="-5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9605F-EFDC-430F-83D0-9A2F0ACED3F8}">
      <dsp:nvSpPr>
        <dsp:cNvPr id="0" name=""/>
        <dsp:cNvSpPr/>
      </dsp:nvSpPr>
      <dsp:spPr>
        <a:xfrm rot="16200000">
          <a:off x="5460052" y="1670445"/>
          <a:ext cx="2496216" cy="439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7538" bIns="0" numCol="1" spcCol="1270" anchor="t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ar-EG" sz="3300" kern="1200" dirty="0">
            <a:solidFill>
              <a:srgbClr val="002060"/>
            </a:solidFill>
          </a:endParaRPr>
        </a:p>
      </dsp:txBody>
      <dsp:txXfrm>
        <a:off x="5460052" y="1670445"/>
        <a:ext cx="2496216" cy="439413"/>
      </dsp:txXfrm>
    </dsp:sp>
    <dsp:sp modelId="{FE13355D-CA6B-49EC-A650-9F0EABE72A5D}">
      <dsp:nvSpPr>
        <dsp:cNvPr id="0" name=""/>
        <dsp:cNvSpPr/>
      </dsp:nvSpPr>
      <dsp:spPr>
        <a:xfrm>
          <a:off x="6927867" y="642043"/>
          <a:ext cx="2188743" cy="2496216"/>
        </a:xfrm>
        <a:prstGeom prst="rect">
          <a:avLst/>
        </a:prstGeom>
        <a:solidFill>
          <a:schemeClr val="accent6">
            <a:shade val="50000"/>
            <a:hueOff val="32242"/>
            <a:satOff val="-1506"/>
            <a:lumOff val="285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387538" rIns="199136" bIns="199136" numCol="1" spcCol="1270" anchor="t" anchorCtr="0">
          <a:noAutofit/>
        </a:bodyPr>
        <a:lstStyle/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EG" sz="2200" kern="1200" dirty="0">
            <a:solidFill>
              <a:srgbClr val="002060"/>
            </a:solidFill>
          </a:endParaRPr>
        </a:p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EG" sz="2200" kern="1200" dirty="0">
            <a:solidFill>
              <a:srgbClr val="002060"/>
            </a:solidFill>
          </a:endParaRPr>
        </a:p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ar-EG" sz="2200" kern="1200" dirty="0">
              <a:solidFill>
                <a:srgbClr val="002060"/>
              </a:solidFill>
            </a:rPr>
            <a:t>تكرار البيانات يؤدي إلى إهدار الوقت والموارد </a:t>
          </a:r>
        </a:p>
        <a:p>
          <a:pPr marL="228600" lvl="1" indent="-228600" algn="r" defTabSz="9779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ar-EG" sz="2200" kern="1200" dirty="0"/>
        </a:p>
      </dsp:txBody>
      <dsp:txXfrm>
        <a:off x="6927867" y="642043"/>
        <a:ext cx="2188743" cy="2496216"/>
      </dsp:txXfrm>
    </dsp:sp>
    <dsp:sp modelId="{33720F61-1BB3-4775-8D80-4341CD907AF6}">
      <dsp:nvSpPr>
        <dsp:cNvPr id="0" name=""/>
        <dsp:cNvSpPr/>
      </dsp:nvSpPr>
      <dsp:spPr>
        <a:xfrm>
          <a:off x="6488454" y="62017"/>
          <a:ext cx="878826" cy="878826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074A2-0374-4E62-8117-43C0D4413D9E}">
      <dsp:nvSpPr>
        <dsp:cNvPr id="0" name=""/>
        <dsp:cNvSpPr/>
      </dsp:nvSpPr>
      <dsp:spPr>
        <a:xfrm>
          <a:off x="1285800" y="-239095"/>
          <a:ext cx="5379671" cy="5379671"/>
        </a:xfrm>
        <a:prstGeom prst="circularArrow">
          <a:avLst>
            <a:gd name="adj1" fmla="val 5544"/>
            <a:gd name="adj2" fmla="val 330680"/>
            <a:gd name="adj3" fmla="val 13346534"/>
            <a:gd name="adj4" fmla="val 1765320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4AC37-2E53-44E1-AB2F-E206B236C7AF}">
      <dsp:nvSpPr>
        <dsp:cNvPr id="0" name=""/>
        <dsp:cNvSpPr/>
      </dsp:nvSpPr>
      <dsp:spPr>
        <a:xfrm>
          <a:off x="2491013" y="-232067"/>
          <a:ext cx="2969246" cy="1630241"/>
        </a:xfrm>
        <a:prstGeom prst="roundRect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ar-EG" sz="2900" b="1" kern="1200" dirty="0">
              <a:solidFill>
                <a:srgbClr val="002060"/>
              </a:solidFill>
            </a:rPr>
            <a:t>الموظفون داخل مصلحة الضرائب العقارية </a:t>
          </a:r>
          <a:endParaRPr lang="ar-EG" sz="2900" kern="1200" dirty="0">
            <a:solidFill>
              <a:srgbClr val="002060"/>
            </a:solidFill>
          </a:endParaRPr>
        </a:p>
      </dsp:txBody>
      <dsp:txXfrm>
        <a:off x="2570595" y="-152485"/>
        <a:ext cx="2810082" cy="1471077"/>
      </dsp:txXfrm>
    </dsp:sp>
    <dsp:sp modelId="{61C69FA9-96C7-4745-A162-027DA7DF3980}">
      <dsp:nvSpPr>
        <dsp:cNvPr id="0" name=""/>
        <dsp:cNvSpPr/>
      </dsp:nvSpPr>
      <dsp:spPr>
        <a:xfrm>
          <a:off x="4522805" y="1384473"/>
          <a:ext cx="3269305" cy="1567531"/>
        </a:xfrm>
        <a:prstGeom prst="roundRect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ar-EG" sz="2900" b="1" kern="1200" dirty="0">
              <a:solidFill>
                <a:srgbClr val="002060"/>
              </a:solidFill>
            </a:rPr>
            <a:t>الإدارة ومتخذي القرار </a:t>
          </a:r>
          <a:endParaRPr lang="ar-EG" sz="2900" kern="1200" dirty="0">
            <a:solidFill>
              <a:srgbClr val="002060"/>
            </a:solidFill>
          </a:endParaRPr>
        </a:p>
      </dsp:txBody>
      <dsp:txXfrm>
        <a:off x="4599326" y="1460994"/>
        <a:ext cx="3116263" cy="1414489"/>
      </dsp:txXfrm>
    </dsp:sp>
    <dsp:sp modelId="{FD1A1CC5-3136-44B7-896A-C22959A7E7A0}">
      <dsp:nvSpPr>
        <dsp:cNvPr id="0" name=""/>
        <dsp:cNvSpPr/>
      </dsp:nvSpPr>
      <dsp:spPr>
        <a:xfrm>
          <a:off x="4336257" y="3619575"/>
          <a:ext cx="2792077" cy="1835219"/>
        </a:xfrm>
        <a:prstGeom prst="round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ar-EG" sz="2800" b="1" kern="1200" dirty="0">
              <a:solidFill>
                <a:srgbClr val="002060"/>
              </a:solidFill>
            </a:rPr>
            <a:t>المواطنون (من خلال تحسين جودة الخدمة) </a:t>
          </a:r>
          <a:endParaRPr lang="ar-EG" sz="2800" kern="1200" dirty="0">
            <a:solidFill>
              <a:srgbClr val="002060"/>
            </a:solidFill>
          </a:endParaRPr>
        </a:p>
      </dsp:txBody>
      <dsp:txXfrm>
        <a:off x="4425845" y="3709163"/>
        <a:ext cx="2612901" cy="1656043"/>
      </dsp:txXfrm>
    </dsp:sp>
    <dsp:sp modelId="{D07E471B-BFFC-427C-A311-0BACC2D241EA}">
      <dsp:nvSpPr>
        <dsp:cNvPr id="0" name=""/>
        <dsp:cNvSpPr/>
      </dsp:nvSpPr>
      <dsp:spPr>
        <a:xfrm>
          <a:off x="1168402" y="3640070"/>
          <a:ext cx="2786970" cy="1728925"/>
        </a:xfrm>
        <a:prstGeom prst="round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ar-EG" sz="2700" b="1" kern="1200" dirty="0">
              <a:solidFill>
                <a:srgbClr val="002060"/>
              </a:solidFill>
            </a:rPr>
            <a:t>الدولة (من خلال تحسين الكفاءة وتقليل التكاليف) </a:t>
          </a:r>
          <a:endParaRPr lang="ar-EG" sz="2700" kern="1200" dirty="0">
            <a:solidFill>
              <a:srgbClr val="002060"/>
            </a:solidFill>
          </a:endParaRPr>
        </a:p>
      </dsp:txBody>
      <dsp:txXfrm>
        <a:off x="1252801" y="3724469"/>
        <a:ext cx="2618172" cy="1560127"/>
      </dsp:txXfrm>
    </dsp:sp>
    <dsp:sp modelId="{355AC9C3-9A2C-456F-A85F-A899875B1C3C}">
      <dsp:nvSpPr>
        <dsp:cNvPr id="0" name=""/>
        <dsp:cNvSpPr/>
      </dsp:nvSpPr>
      <dsp:spPr>
        <a:xfrm>
          <a:off x="335888" y="1400805"/>
          <a:ext cx="2915852" cy="1534868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ar-EG" sz="2700" b="1" kern="1200" dirty="0">
              <a:solidFill>
                <a:srgbClr val="002060"/>
              </a:solidFill>
            </a:rPr>
            <a:t>جهات الرقابة والمراجعة </a:t>
          </a:r>
          <a:endParaRPr lang="ar-EG" sz="2700" kern="1200" dirty="0">
            <a:solidFill>
              <a:srgbClr val="002060"/>
            </a:solidFill>
          </a:endParaRPr>
        </a:p>
      </dsp:txBody>
      <dsp:txXfrm>
        <a:off x="410814" y="1475731"/>
        <a:ext cx="2766000" cy="1385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88973B76-8837-4614-A827-2877C70B7D87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594BCD8F-4127-4262-BFBE-3EEDC753A9EB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78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16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770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7893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3253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1538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0834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7200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6578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8452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9434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98669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310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12132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23133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47464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8735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1476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732CFD1-307C-463C-8B36-8C5855C745B9}" type="datetimeFigureOut">
              <a:rPr lang="ar-EG" smtClean="0"/>
              <a:t>10/11/1447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4535BF8-DAEC-4D95-8CED-5D0880F7EE43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1645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mhamdi.pythonanywhere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402E7B8E-976B-DDB8-FA0F-88E9BC49664C}"/>
              </a:ext>
            </a:extLst>
          </p:cNvPr>
          <p:cNvSpPr/>
          <p:nvPr/>
        </p:nvSpPr>
        <p:spPr>
          <a:xfrm>
            <a:off x="1616990" y="798380"/>
            <a:ext cx="8958020" cy="1472339"/>
          </a:xfrm>
          <a:prstGeom prst="round2Diag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D6418-B954-3C2E-8E00-D17C3DF932B4}"/>
              </a:ext>
            </a:extLst>
          </p:cNvPr>
          <p:cNvSpPr txBox="1"/>
          <p:nvPr/>
        </p:nvSpPr>
        <p:spPr>
          <a:xfrm>
            <a:off x="82061" y="1216834"/>
            <a:ext cx="11712149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EG" sz="4400" b="1" dirty="0"/>
              <a:t>نظام إلكتروني لإدارة منظومة الضرائب العقارية</a:t>
            </a:r>
          </a:p>
          <a:p>
            <a:pPr algn="ctr"/>
            <a:endParaRPr lang="ar-EG" sz="4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46E787-8B28-F619-E457-9BA6A5D21B6A}"/>
              </a:ext>
            </a:extLst>
          </p:cNvPr>
          <p:cNvSpPr/>
          <p:nvPr/>
        </p:nvSpPr>
        <p:spPr>
          <a:xfrm>
            <a:off x="1224366" y="3429000"/>
            <a:ext cx="10135892" cy="31732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1A7A9-C711-6314-74AB-4413348B2A68}"/>
              </a:ext>
            </a:extLst>
          </p:cNvPr>
          <p:cNvSpPr txBox="1"/>
          <p:nvPr/>
        </p:nvSpPr>
        <p:spPr>
          <a:xfrm>
            <a:off x="1616990" y="3549112"/>
            <a:ext cx="9634779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2800" b="1" dirty="0"/>
              <a:t>جامعة :</a:t>
            </a:r>
            <a:r>
              <a:rPr lang="ar-EG" sz="2800" dirty="0"/>
              <a:t>اسيوط</a:t>
            </a:r>
            <a:r>
              <a:rPr lang="ar-EG" sz="2800" b="1" dirty="0"/>
              <a:t>                                      كلية</a:t>
            </a:r>
            <a:r>
              <a:rPr lang="ar-EG" sz="2800" dirty="0"/>
              <a:t>: الحاسبات و المعلومات</a:t>
            </a:r>
          </a:p>
          <a:p>
            <a:pPr algn="r"/>
            <a:r>
              <a:rPr lang="ar-EG" sz="2800" b="1" dirty="0"/>
              <a:t>عميدة الكلية:</a:t>
            </a:r>
            <a:r>
              <a:rPr lang="ar-EG" sz="2800" dirty="0"/>
              <a:t>تيسير حسن عبد الحميد </a:t>
            </a:r>
            <a:br>
              <a:rPr lang="ar-EG" sz="2800" b="1" dirty="0"/>
            </a:br>
            <a:r>
              <a:rPr lang="ar-EG" sz="2800" b="1" dirty="0"/>
              <a:t>تحت اشراف الدكتور :</a:t>
            </a:r>
            <a:r>
              <a:rPr lang="ar-EG" sz="2800" dirty="0"/>
              <a:t>ماجد عسكر</a:t>
            </a:r>
            <a:br>
              <a:rPr lang="ar-EG" sz="2800" b="1" dirty="0"/>
            </a:br>
            <a:r>
              <a:rPr lang="ar-EG" sz="2800" b="1" dirty="0"/>
              <a:t>اعضاء التيم:</a:t>
            </a:r>
            <a:endParaRPr lang="en-GB" sz="2800" b="1" dirty="0"/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EG" sz="2800" dirty="0"/>
              <a:t>الاء محمد محمد                                                مريم حمدي محمد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EG" sz="2800"/>
              <a:t>رحاب رفعت حسين                                           اسراء عبدالله محمد</a:t>
            </a:r>
            <a:endParaRPr lang="ar-EG" sz="2800" dirty="0"/>
          </a:p>
          <a:p>
            <a:pPr algn="r"/>
            <a:br>
              <a:rPr lang="ar-EG" sz="2800" b="1" dirty="0"/>
            </a:b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21802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CAB88D48-6494-371C-014D-00341B551816}"/>
              </a:ext>
            </a:extLst>
          </p:cNvPr>
          <p:cNvSpPr/>
          <p:nvPr/>
        </p:nvSpPr>
        <p:spPr>
          <a:xfrm>
            <a:off x="8632556" y="635431"/>
            <a:ext cx="3135823" cy="59281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6DA8D-E254-C24C-977D-B76744F938E5}"/>
              </a:ext>
            </a:extLst>
          </p:cNvPr>
          <p:cNvSpPr txBox="1"/>
          <p:nvPr/>
        </p:nvSpPr>
        <p:spPr>
          <a:xfrm>
            <a:off x="8789007" y="639618"/>
            <a:ext cx="240593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3600" b="1" dirty="0"/>
              <a:t>خلفية المشكلة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2A222-6616-E6C2-48AB-385096DF7E57}"/>
              </a:ext>
            </a:extLst>
          </p:cNvPr>
          <p:cNvSpPr txBox="1"/>
          <p:nvPr/>
        </p:nvSpPr>
        <p:spPr>
          <a:xfrm>
            <a:off x="526942" y="1534332"/>
            <a:ext cx="10895309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2400" dirty="0"/>
              <a:t>تعتمد منظومة الضرائب العقارية حاليًا بشكل كبير على الإجراءات الورقية، مما يؤدي إلى تحديات تشغيلية تؤثر على كفاءة العمل وجودة البيانات.</a:t>
            </a: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algn="r" rtl="1"/>
            <a:endParaRPr lang="ar-EG" sz="2400" dirty="0">
              <a:solidFill>
                <a:schemeClr val="accent1"/>
              </a:solidFill>
            </a:endParaRPr>
          </a:p>
          <a:p>
            <a:pPr algn="r" rtl="1"/>
            <a:endParaRPr lang="ar-EG" sz="2400" dirty="0">
              <a:solidFill>
                <a:schemeClr val="accent1"/>
              </a:solidFill>
            </a:endParaRPr>
          </a:p>
          <a:p>
            <a:pPr algn="r"/>
            <a:r>
              <a:rPr lang="ar-EG" sz="2400" dirty="0"/>
              <a:t>مع تزايد حجم البيانات سنويًا، يصبح النظام الورقي غير قادر على تحقيق الكفاءة المطلوبة أو دعم اتخاذ القرار بشكل فعال.</a:t>
            </a:r>
          </a:p>
          <a:p>
            <a:pPr algn="r"/>
            <a:endParaRPr lang="ar-EG" sz="2400" dirty="0"/>
          </a:p>
        </p:txBody>
      </p:sp>
      <p:sp>
        <p:nvSpPr>
          <p:cNvPr id="8" name="Flowchart: Or 7">
            <a:extLst>
              <a:ext uri="{FF2B5EF4-FFF2-40B4-BE49-F238E27FC236}">
                <a16:creationId xmlns:a16="http://schemas.microsoft.com/office/drawing/2014/main" id="{133E84B9-D382-E905-5C4E-DA321B0BC01F}"/>
              </a:ext>
            </a:extLst>
          </p:cNvPr>
          <p:cNvSpPr/>
          <p:nvPr/>
        </p:nvSpPr>
        <p:spPr>
          <a:xfrm>
            <a:off x="2138766" y="2154264"/>
            <a:ext cx="7981627" cy="2727702"/>
          </a:xfrm>
          <a:prstGeom prst="flowChartO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8D4AC-6116-A2C6-1DA3-6248485FC8EA}"/>
              </a:ext>
            </a:extLst>
          </p:cNvPr>
          <p:cNvSpPr txBox="1"/>
          <p:nvPr/>
        </p:nvSpPr>
        <p:spPr>
          <a:xfrm>
            <a:off x="6280683" y="2544383"/>
            <a:ext cx="3079001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</a:rPr>
              <a:t>بطء في تسجيل واسترجاع البيانات </a:t>
            </a:r>
          </a:p>
          <a:p>
            <a:endParaRPr lang="ar-E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1E7CA-1C26-80EB-316A-B69A1ED75CE8}"/>
              </a:ext>
            </a:extLst>
          </p:cNvPr>
          <p:cNvSpPr txBox="1"/>
          <p:nvPr/>
        </p:nvSpPr>
        <p:spPr>
          <a:xfrm>
            <a:off x="2935633" y="2410119"/>
            <a:ext cx="2820691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</a:rPr>
              <a:t>صعوبة تتبع العمليات</a:t>
            </a:r>
          </a:p>
          <a:p>
            <a:pPr algn="r" rtl="1"/>
            <a:r>
              <a:rPr lang="ar-EG" sz="2400" dirty="0">
                <a:solidFill>
                  <a:srgbClr val="002060"/>
                </a:solidFill>
              </a:rPr>
              <a:t> (تقييم – سداد – إعفاء)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74D65-11D3-32BE-C784-5B8E2448997D}"/>
              </a:ext>
            </a:extLst>
          </p:cNvPr>
          <p:cNvSpPr txBox="1"/>
          <p:nvPr/>
        </p:nvSpPr>
        <p:spPr>
          <a:xfrm>
            <a:off x="6129579" y="3920053"/>
            <a:ext cx="3487119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</a:rPr>
              <a:t>زيادة احتمالية الأخطاء البشرية </a:t>
            </a:r>
          </a:p>
          <a:p>
            <a:endParaRPr lang="ar-E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4E50F5-2C35-E32C-F3AA-26B0C258390D}"/>
              </a:ext>
            </a:extLst>
          </p:cNvPr>
          <p:cNvSpPr txBox="1"/>
          <p:nvPr/>
        </p:nvSpPr>
        <p:spPr>
          <a:xfrm>
            <a:off x="2588221" y="3920053"/>
            <a:ext cx="3270143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</a:rPr>
              <a:t>مخاطر فقد أو تلف المستندات </a:t>
            </a:r>
          </a:p>
          <a:p>
            <a:endParaRPr lang="ar-EG" dirty="0"/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B9C6D231-19FD-DF23-B83A-77C77EBCD74D}"/>
              </a:ext>
            </a:extLst>
          </p:cNvPr>
          <p:cNvSpPr/>
          <p:nvPr/>
        </p:nvSpPr>
        <p:spPr>
          <a:xfrm>
            <a:off x="3301140" y="3130001"/>
            <a:ext cx="5641382" cy="73866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C5261B-1C65-4ACA-67C6-46FBAAE5FBEB}"/>
              </a:ext>
            </a:extLst>
          </p:cNvPr>
          <p:cNvSpPr txBox="1"/>
          <p:nvPr/>
        </p:nvSpPr>
        <p:spPr>
          <a:xfrm>
            <a:off x="4113504" y="3318543"/>
            <a:ext cx="422845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b="1" dirty="0">
                <a:solidFill>
                  <a:srgbClr val="002060"/>
                </a:solidFill>
              </a:rPr>
              <a:t>ارتفاع التكاليف التشغيلية (ورق – طباعة – تخزين) 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18383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CCD6F594-D72D-7883-9FC5-134EE6548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1444" y="135224"/>
            <a:ext cx="5939690" cy="550333"/>
          </a:xfrm>
        </p:spPr>
        <p:txBody>
          <a:bodyPr>
            <a:normAutofit fontScale="70000" lnSpcReduction="20000"/>
          </a:bodyPr>
          <a:lstStyle/>
          <a:p>
            <a:r>
              <a:rPr lang="ar-EG" sz="4000" b="1" dirty="0">
                <a:solidFill>
                  <a:schemeClr val="tx1"/>
                </a:solidFill>
              </a:rPr>
              <a:t>أصل الفكرة: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F372F-BABE-CB4D-FC6F-B7C5594FCFF5}"/>
              </a:ext>
            </a:extLst>
          </p:cNvPr>
          <p:cNvSpPr txBox="1"/>
          <p:nvPr/>
        </p:nvSpPr>
        <p:spPr>
          <a:xfrm>
            <a:off x="108489" y="557938"/>
            <a:ext cx="10833315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EG" sz="2400" dirty="0"/>
              <a:t>نشأت فكرة المشروع من ملاحظة واقعية داخل بيئة العمل، حيث يتم التعامل مع كميات كبيرة من البيانات الورقية التي يتم تسجيلها بشكل متكرر سنويًا مع اختلافات محدودة.</a:t>
            </a:r>
          </a:p>
          <a:p>
            <a:pPr algn="r" rtl="1"/>
            <a:r>
              <a:rPr lang="ar-EG" sz="2400" dirty="0"/>
              <a:t>ومع دراسة الوضع بشكل أعمق، تبيّن أن: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accent1"/>
              </a:solidFill>
            </a:endParaRPr>
          </a:p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ar-EG" sz="24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مما يؤكد الحاجة إلى نظام رقمي متكامل يعالج هذه التحديات بشكل جذري</a:t>
            </a:r>
          </a:p>
          <a:p>
            <a:pPr algn="r" rtl="1"/>
            <a:endParaRPr lang="ar-EG" sz="2400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828A6BAC-2970-7CCC-A8BD-4BBA42DD1B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2882411"/>
              </p:ext>
            </p:extLst>
          </p:nvPr>
        </p:nvGraphicFramePr>
        <p:xfrm>
          <a:off x="0" y="1653098"/>
          <a:ext cx="9174997" cy="3200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20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9BE26C-1552-D906-69E9-D60F3B4445DE}"/>
              </a:ext>
            </a:extLst>
          </p:cNvPr>
          <p:cNvSpPr txBox="1"/>
          <p:nvPr/>
        </p:nvSpPr>
        <p:spPr>
          <a:xfrm>
            <a:off x="8736989" y="0"/>
            <a:ext cx="443140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ctr" rtl="1">
              <a:buFont typeface="Wingdings" panose="05000000000000000000" pitchFamily="2" charset="2"/>
              <a:buChar char="v"/>
            </a:pPr>
            <a:r>
              <a:rPr lang="ar-EG" sz="2400" b="1" dirty="0"/>
              <a:t>الحل المقترح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EEA6E-790C-E266-A3B1-CE753740E091}"/>
              </a:ext>
            </a:extLst>
          </p:cNvPr>
          <p:cNvSpPr txBox="1"/>
          <p:nvPr/>
        </p:nvSpPr>
        <p:spPr>
          <a:xfrm>
            <a:off x="5842861" y="1255363"/>
            <a:ext cx="557939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2000" b="1" dirty="0"/>
              <a:t>تطوير نظام إلكتروني متكامل يهدف إلى:</a:t>
            </a:r>
          </a:p>
          <a:p>
            <a:pPr algn="r"/>
            <a:endParaRPr lang="ar-EG" sz="2000" b="1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017B5410-5108-6813-BC45-E0A75C48FBAA}"/>
              </a:ext>
            </a:extLst>
          </p:cNvPr>
          <p:cNvSpPr/>
          <p:nvPr/>
        </p:nvSpPr>
        <p:spPr>
          <a:xfrm>
            <a:off x="5083444" y="1963249"/>
            <a:ext cx="5005953" cy="485483"/>
          </a:xfrm>
          <a:prstGeom prst="round2Diag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120A5D8F-4E70-1EFA-7B6E-AAB72D1972A0}"/>
              </a:ext>
            </a:extLst>
          </p:cNvPr>
          <p:cNvSpPr/>
          <p:nvPr/>
        </p:nvSpPr>
        <p:spPr>
          <a:xfrm>
            <a:off x="1090046" y="4791361"/>
            <a:ext cx="5005953" cy="485483"/>
          </a:xfrm>
          <a:prstGeom prst="round2Diag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79CDF5D2-2FCA-FD20-D7A5-6DCD401EBCFA}"/>
              </a:ext>
            </a:extLst>
          </p:cNvPr>
          <p:cNvSpPr/>
          <p:nvPr/>
        </p:nvSpPr>
        <p:spPr>
          <a:xfrm>
            <a:off x="2580467" y="3866695"/>
            <a:ext cx="5005953" cy="485483"/>
          </a:xfrm>
          <a:prstGeom prst="round2Diag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69C5932F-8159-806E-B2CF-C2AFBA20348B}"/>
              </a:ext>
            </a:extLst>
          </p:cNvPr>
          <p:cNvSpPr/>
          <p:nvPr/>
        </p:nvSpPr>
        <p:spPr>
          <a:xfrm>
            <a:off x="3593023" y="2991172"/>
            <a:ext cx="5005953" cy="485483"/>
          </a:xfrm>
          <a:prstGeom prst="round2Diag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47725280-774F-8966-491C-22D0A2ED2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922" y="1982785"/>
            <a:ext cx="44358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EG" sz="2000" b="1" dirty="0">
                <a:solidFill>
                  <a:srgbClr val="FFFF00"/>
                </a:solidFill>
                <a:latin typeface="Arial" panose="020B0604020202020204" pitchFamily="34" charset="0"/>
              </a:rPr>
              <a:t>ميكنة إدارة بيانات العقارات والوحدات والأشخاص</a:t>
            </a:r>
            <a:r>
              <a:rPr lang="ar-EG" altLang="ar-EG" sz="2000" b="1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084B7AB6-D6A7-DC89-4CA8-6818D147F17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80481" y="2756947"/>
            <a:ext cx="514396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تسجيل وتتبع العمليات (التقييم – المدفوعات – الإعفاءات)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3B387641-6D22-4D7E-B9FC-865F027B0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873" y="3632383"/>
            <a:ext cx="33011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EG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توفير نظام بحث سريع ودقيق</a:t>
            </a:r>
            <a:r>
              <a:rPr kumimoji="0" lang="ar-EG" altLang="ar-EG" sz="20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3BD663-9D5C-FAE4-FF20-A969468E081A}"/>
              </a:ext>
            </a:extLst>
          </p:cNvPr>
          <p:cNvSpPr txBox="1"/>
          <p:nvPr/>
        </p:nvSpPr>
        <p:spPr>
          <a:xfrm>
            <a:off x="1514960" y="4820802"/>
            <a:ext cx="4581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rgbClr val="FFFF00"/>
                </a:solidFill>
              </a:rPr>
              <a:t>تحسين كفاءة العمل وتقليل الاعتماد على الورق </a:t>
            </a:r>
          </a:p>
        </p:txBody>
      </p:sp>
    </p:spTree>
    <p:extLst>
      <p:ext uri="{BB962C8B-B14F-4D97-AF65-F5344CB8AC3E}">
        <p14:creationId xmlns:p14="http://schemas.microsoft.com/office/powerpoint/2010/main" val="58695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>
            <a:extLst>
              <a:ext uri="{FF2B5EF4-FFF2-40B4-BE49-F238E27FC236}">
                <a16:creationId xmlns:a16="http://schemas.microsoft.com/office/drawing/2014/main" id="{69953B13-97A6-F6EF-2FD5-64357C2BDE0D}"/>
              </a:ext>
            </a:extLst>
          </p:cNvPr>
          <p:cNvSpPr/>
          <p:nvPr/>
        </p:nvSpPr>
        <p:spPr>
          <a:xfrm>
            <a:off x="2451320" y="3208151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50396ED-0298-1ABA-EDFA-0DB7C9796F99}"/>
              </a:ext>
            </a:extLst>
          </p:cNvPr>
          <p:cNvSpPr/>
          <p:nvPr/>
        </p:nvSpPr>
        <p:spPr>
          <a:xfrm>
            <a:off x="51667" y="3214284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1E292D5A-A58E-444E-0A7F-A365ADB7A35C}"/>
              </a:ext>
            </a:extLst>
          </p:cNvPr>
          <p:cNvSpPr/>
          <p:nvPr/>
        </p:nvSpPr>
        <p:spPr>
          <a:xfrm>
            <a:off x="2428075" y="1766806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A6EB67BF-A151-501A-23E5-71E3C460E046}"/>
              </a:ext>
            </a:extLst>
          </p:cNvPr>
          <p:cNvSpPr/>
          <p:nvPr/>
        </p:nvSpPr>
        <p:spPr>
          <a:xfrm>
            <a:off x="2376407" y="274933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7FF6FEA6-91DA-FD29-091B-1EFBFA26FE07}"/>
              </a:ext>
            </a:extLst>
          </p:cNvPr>
          <p:cNvSpPr/>
          <p:nvPr/>
        </p:nvSpPr>
        <p:spPr>
          <a:xfrm>
            <a:off x="0" y="274933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0A6B07AB-723A-76C4-FCE9-B8CDDD3BFDC5}"/>
              </a:ext>
            </a:extLst>
          </p:cNvPr>
          <p:cNvSpPr/>
          <p:nvPr/>
        </p:nvSpPr>
        <p:spPr>
          <a:xfrm>
            <a:off x="51666" y="4641096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73B26014-57EC-321A-CF4D-D16B2352D6C8}"/>
              </a:ext>
            </a:extLst>
          </p:cNvPr>
          <p:cNvSpPr/>
          <p:nvPr/>
        </p:nvSpPr>
        <p:spPr>
          <a:xfrm>
            <a:off x="51668" y="1777139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EE631B88-742E-F0A7-7767-85BB4EEEAC72}"/>
              </a:ext>
            </a:extLst>
          </p:cNvPr>
          <p:cNvSpPr/>
          <p:nvPr/>
        </p:nvSpPr>
        <p:spPr>
          <a:xfrm>
            <a:off x="2451320" y="4649496"/>
            <a:ext cx="2376407" cy="131735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D6F87-24D1-0B1C-29A7-EA6065BEB470}"/>
              </a:ext>
            </a:extLst>
          </p:cNvPr>
          <p:cNvSpPr txBox="1"/>
          <p:nvPr/>
        </p:nvSpPr>
        <p:spPr>
          <a:xfrm flipV="1">
            <a:off x="4755436" y="521814"/>
            <a:ext cx="258165" cy="457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EG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BF624ED-1E27-2FE4-C7CC-FA8FEFB24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716" y="264600"/>
            <a:ext cx="18133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ميكنة العمليات وتقليل الاعتماد على الورق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CCA13ED-5200-BB12-9863-BEC745B3476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666" y="378416"/>
            <a:ext cx="20974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تحسين سرعة وكفاءة إدخال ومعالجة البيانات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5386D33-79CA-787C-7B0B-B3549E1D87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37192" y="1832777"/>
            <a:ext cx="23764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تقليل الأخطاء البشرية وتحسين دقة المعلومات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4F71A8D-35B3-0126-5CF0-53A494F4B6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8885" y="1783587"/>
            <a:ext cx="18546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تسهيل الوصول للبيانات في أي وقت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2D8D00D-7E3A-9E5B-FE53-FF10D67E4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951" y="3273517"/>
            <a:ext cx="18711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دعم اتخاذ القرار من خلال تقارير دقيقة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0D1F984-BE8B-C655-DED7-0DD401015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88" y="3279345"/>
            <a:ext cx="1611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تعزيز الشفافية والرقابة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EFF11F57-2090-08AA-096F-27474D20B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1382" y="4691973"/>
            <a:ext cx="21880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تقليل التكاليف التشغيلية على المدى الطويل</a:t>
            </a:r>
            <a:r>
              <a:rPr kumimoji="0" lang="ar-EG" altLang="ar-EG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8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525170-51CE-8FB9-A79D-EF8E52CDF35F}"/>
              </a:ext>
            </a:extLst>
          </p:cNvPr>
          <p:cNvSpPr txBox="1"/>
          <p:nvPr/>
        </p:nvSpPr>
        <p:spPr>
          <a:xfrm>
            <a:off x="310349" y="4968971"/>
            <a:ext cx="217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b="1" dirty="0">
                <a:solidFill>
                  <a:srgbClr val="002060"/>
                </a:solidFill>
              </a:rPr>
              <a:t>تصميم نظام قابل للتوسع والتطوير مستقبلًا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A3FC80-0FF8-F09A-2CE2-16F10DD46B69}"/>
              </a:ext>
            </a:extLst>
          </p:cNvPr>
          <p:cNvSpPr txBox="1"/>
          <p:nvPr/>
        </p:nvSpPr>
        <p:spPr>
          <a:xfrm>
            <a:off x="6096000" y="2432942"/>
            <a:ext cx="44196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4000" b="1" dirty="0"/>
              <a:t>أهداف المشروع</a:t>
            </a:r>
          </a:p>
        </p:txBody>
      </p:sp>
    </p:spTree>
    <p:extLst>
      <p:ext uri="{BB962C8B-B14F-4D97-AF65-F5344CB8AC3E}">
        <p14:creationId xmlns:p14="http://schemas.microsoft.com/office/powerpoint/2010/main" val="35179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1EF90-69C1-E591-93C6-FA06F88FE42F}"/>
              </a:ext>
            </a:extLst>
          </p:cNvPr>
          <p:cNvSpPr txBox="1"/>
          <p:nvPr/>
        </p:nvSpPr>
        <p:spPr>
          <a:xfrm>
            <a:off x="6629400" y="424543"/>
            <a:ext cx="478427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3600" b="1" dirty="0"/>
              <a:t>المستفيدون: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1856AD-803C-1CB0-5E52-EE60618F70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80313"/>
              </p:ext>
            </p:extLst>
          </p:nvPr>
        </p:nvGraphicFramePr>
        <p:xfrm>
          <a:off x="1770743" y="6053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492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AAC71D-1DEB-29BA-2255-9D73004518C3}"/>
              </a:ext>
            </a:extLst>
          </p:cNvPr>
          <p:cNvSpPr txBox="1"/>
          <p:nvPr/>
        </p:nvSpPr>
        <p:spPr>
          <a:xfrm>
            <a:off x="1828800" y="511444"/>
            <a:ext cx="9174997" cy="44012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EG" sz="4000" b="1" dirty="0"/>
              <a:t>نطاق المشروع </a:t>
            </a:r>
            <a:endParaRPr lang="en-GB" sz="4000" b="1" dirty="0"/>
          </a:p>
          <a:p>
            <a:pPr algn="r"/>
            <a:r>
              <a:rPr lang="ar-EG" sz="2400" b="1" dirty="0">
                <a:solidFill>
                  <a:srgbClr val="0070C0"/>
                </a:solidFill>
              </a:rPr>
              <a:t>يشمل:</a:t>
            </a:r>
          </a:p>
          <a:p>
            <a:pPr algn="r"/>
            <a:r>
              <a:rPr lang="ar-EG" sz="2400" dirty="0"/>
              <a:t>إدارة بيانات (أشخاص – عقارات – وحدات) </a:t>
            </a:r>
          </a:p>
          <a:p>
            <a:pPr algn="r"/>
            <a:r>
              <a:rPr lang="ar-EG" sz="2400" dirty="0"/>
              <a:t>تسجيل العمليات (تقييم – سداد – إعفاء) </a:t>
            </a:r>
          </a:p>
          <a:p>
            <a:pPr algn="r"/>
            <a:r>
              <a:rPr lang="ar-EG" sz="2400" dirty="0"/>
              <a:t>البحث والاستعلام </a:t>
            </a:r>
          </a:p>
          <a:p>
            <a:pPr algn="r"/>
            <a:r>
              <a:rPr lang="ar-EG" sz="2400" dirty="0"/>
              <a:t>تقارير أساسية </a:t>
            </a:r>
          </a:p>
          <a:p>
            <a:pPr algn="r"/>
            <a:r>
              <a:rPr lang="ar-EG" sz="2400" b="1" dirty="0">
                <a:solidFill>
                  <a:schemeClr val="accent1"/>
                </a:solidFill>
              </a:rPr>
              <a:t> لا يشمل:</a:t>
            </a:r>
          </a:p>
          <a:p>
            <a:pPr algn="r"/>
            <a:r>
              <a:rPr lang="ar-EG" sz="2400" dirty="0"/>
              <a:t>أنظمة الدفع الإلكتروني </a:t>
            </a:r>
          </a:p>
          <a:p>
            <a:pPr algn="r"/>
            <a:r>
              <a:rPr lang="ar-EG" sz="2400" dirty="0"/>
              <a:t>الربط مع جهات حكومية أخرى </a:t>
            </a:r>
          </a:p>
          <a:p>
            <a:pPr algn="r"/>
            <a:r>
              <a:rPr lang="ar-EG" sz="2400" dirty="0"/>
              <a:t>تطبيقات موبايل (في المرحلة الحالية)</a:t>
            </a:r>
          </a:p>
          <a:p>
            <a:pPr algn="r"/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22809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36899E-7CE5-DFD0-D116-668C6F5AE271}"/>
              </a:ext>
            </a:extLst>
          </p:cNvPr>
          <p:cNvSpPr txBox="1"/>
          <p:nvPr/>
        </p:nvSpPr>
        <p:spPr>
          <a:xfrm>
            <a:off x="6096000" y="1571302"/>
            <a:ext cx="5527729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2400" b="1" dirty="0"/>
              <a:t>يتميز النظام بدمج مساعد ذكي داخل المنصة:</a:t>
            </a:r>
          </a:p>
          <a:p>
            <a:pPr algn="r"/>
            <a:endParaRPr lang="ar-EG" sz="2400" b="1" dirty="0"/>
          </a:p>
          <a:p>
            <a:pPr algn="r"/>
            <a:r>
              <a:rPr lang="ar-EG" sz="2400" b="1" dirty="0">
                <a:solidFill>
                  <a:srgbClr val="0070C0"/>
                </a:solidFill>
              </a:rPr>
              <a:t> يوجّه المستخدمين أثناء استخدام النظام يقدّم</a:t>
            </a:r>
          </a:p>
          <a:p>
            <a:pPr algn="r"/>
            <a:r>
              <a:rPr lang="ar-EG" sz="2400" b="1" dirty="0">
                <a:solidFill>
                  <a:srgbClr val="0070C0"/>
                </a:solidFill>
              </a:rPr>
              <a:t> إرشادات فورية خطوة بخطوة يقلل الحاجة إلى التدريب التقليدي يسرّع من عملية تبني النظام داخل بيئة العمل مما يعالج أحد أهم تحديات التحول الرقمي:</a:t>
            </a:r>
          </a:p>
          <a:p>
            <a:pPr algn="r"/>
            <a:r>
              <a:rPr lang="ar-EG" sz="2400" b="1" dirty="0">
                <a:solidFill>
                  <a:srgbClr val="0070C0"/>
                </a:solidFill>
              </a:rPr>
              <a:t> </a:t>
            </a:r>
            <a:r>
              <a:rPr lang="ar-EG" sz="2400" b="1" dirty="0">
                <a:solidFill>
                  <a:srgbClr val="002060"/>
                </a:solidFill>
              </a:rPr>
              <a:t>تأهيل المستخدمين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D324A-F19D-8293-0536-A726D05BF661}"/>
              </a:ext>
            </a:extLst>
          </p:cNvPr>
          <p:cNvSpPr txBox="1"/>
          <p:nvPr/>
        </p:nvSpPr>
        <p:spPr>
          <a:xfrm>
            <a:off x="7299702" y="151395"/>
            <a:ext cx="4200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EG" sz="3200" b="1" dirty="0"/>
              <a:t>قيمة مضافة للنظام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0D98C-915D-C60E-F8CE-8F10FA433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395"/>
            <a:ext cx="6728846" cy="46833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847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D9AC1-7B82-338B-15FC-82E26BB67CA2}"/>
              </a:ext>
            </a:extLst>
          </p:cNvPr>
          <p:cNvSpPr txBox="1"/>
          <p:nvPr/>
        </p:nvSpPr>
        <p:spPr>
          <a:xfrm>
            <a:off x="325464" y="635431"/>
            <a:ext cx="10879811" cy="29238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EG" sz="3200" b="1" dirty="0"/>
              <a:t>الدعم الأكاديمي </a:t>
            </a:r>
            <a:endParaRPr lang="en-GB" sz="3200" b="1" dirty="0"/>
          </a:p>
          <a:p>
            <a:pPr algn="r"/>
            <a:endParaRPr lang="en-GB" sz="3200" b="1" dirty="0"/>
          </a:p>
          <a:p>
            <a:pPr algn="r"/>
            <a:r>
              <a:rPr lang="ar-EG" sz="2400" dirty="0"/>
              <a:t>يحظى المشروع بدعم وإشراف أكاديمي من:</a:t>
            </a:r>
          </a:p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ar-EG" sz="2400" dirty="0"/>
              <a:t>الكلية </a:t>
            </a:r>
          </a:p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ar-EG" sz="2400" dirty="0"/>
              <a:t>السادة أعضاء هيئة التدريس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dirty="0"/>
          </a:p>
          <a:p>
            <a:pPr algn="r"/>
            <a:r>
              <a:rPr lang="ar-EG" sz="2400" dirty="0"/>
              <a:t>بما يضمن تطوير النظام وفق أسس علمية ومنهجية سليمة</a:t>
            </a:r>
            <a:r>
              <a:rPr lang="ar-E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799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B22B27C-8103-3073-2DA2-12EB6A6FF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938" y="124535"/>
            <a:ext cx="650928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E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نسخة أولية</a:t>
            </a:r>
            <a:r>
              <a:rPr kumimoji="0" lang="ar-EG" altLang="ar-E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(MVP) </a:t>
            </a:r>
            <a:r>
              <a:rPr kumimoji="0" lang="ar-SA" altLang="ar-E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توضح الفكرة الأساسية للنظام</a:t>
            </a:r>
            <a:r>
              <a:rPr kumimoji="0" lang="ar-EG" altLang="ar-E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8541F-13B1-576D-8DF3-530326B68E84}"/>
              </a:ext>
            </a:extLst>
          </p:cNvPr>
          <p:cNvSpPr txBox="1"/>
          <p:nvPr/>
        </p:nvSpPr>
        <p:spPr>
          <a:xfrm>
            <a:off x="4541003" y="1965658"/>
            <a:ext cx="80436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GB" sz="2400" dirty="0">
                <a:solidFill>
                  <a:schemeClr val="accent4"/>
                </a:solidFill>
              </a:rPr>
              <a:t>https://MariamHamdi.pythonanywhere</a:t>
            </a:r>
            <a:r>
              <a:rPr lang="en-GB" sz="2400" dirty="0">
                <a:solidFill>
                  <a:schemeClr val="accent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GB" sz="2400" dirty="0">
                <a:solidFill>
                  <a:schemeClr val="accent4"/>
                </a:solidFill>
              </a:rPr>
              <a:t>com</a:t>
            </a:r>
            <a:endParaRPr lang="ar-EG" sz="2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274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279</TotalTime>
  <Words>447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Impact</vt:lpstr>
      <vt:lpstr>Wingdings</vt:lpstr>
      <vt:lpstr>Main Event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 Mohamed</dc:creator>
  <cp:lastModifiedBy>Alaa Mohamed</cp:lastModifiedBy>
  <cp:revision>3</cp:revision>
  <dcterms:created xsi:type="dcterms:W3CDTF">2026-04-25T15:31:48Z</dcterms:created>
  <dcterms:modified xsi:type="dcterms:W3CDTF">2026-04-26T07:32:58Z</dcterms:modified>
</cp:coreProperties>
</file>